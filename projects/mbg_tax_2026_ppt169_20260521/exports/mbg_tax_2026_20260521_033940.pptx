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142"/>
              </a:gs>
              <a:gs pos="100000">
                <a:srgbClr val="1B3A6B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715250" y="-2476500"/>
            <a:ext cx="6477000" cy="6477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667750" y="-1524000"/>
            <a:ext cx="4572000" cy="4572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620250" y="-571500"/>
            <a:ext cx="2667000" cy="26670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" y="0"/>
            <a:ext cx="12134850" cy="28575"/>
          </a:xfrm>
          <a:prstGeom prst="rect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" y="6829425"/>
            <a:ext cx="12134850" cy="28575"/>
          </a:xfrm>
          <a:prstGeom prst="rect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381000" y="1000125"/>
            <a:ext cx="2286000" cy="285750"/>
          </a:xfrm>
          <a:prstGeom prst="roundRect">
            <a:avLst>
              <a:gd name="adj" fmla="val 13333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94755" y="1093470"/>
            <a:ext cx="18584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F2142"/>
                </a:solidFill>
                <a:latin typeface="Inter"/>
                <a:ea typeface="Microsoft YaHei"/>
                <a:cs typeface="Inter"/>
              </a:rPr>
              <a:t>CONFIDENTIAL | TAX PLANNING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375" y="1643062"/>
            <a:ext cx="458081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ANALISIS PAJAK &amp;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3375" y="2195512"/>
            <a:ext cx="460956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MANAGEMENT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81000" y="2743200"/>
            <a:ext cx="4953000" cy="38100"/>
          </a:xfrm>
          <a:prstGeom prst="rect">
            <a:avLst/>
          </a:prstGeom>
          <a:gradFill>
            <a:gsLst>
              <a:gs pos="0">
                <a:srgbClr val="D4A017"/>
              </a:gs>
              <a:gs pos="100000">
                <a:srgbClr val="F0C040"/>
              </a:gs>
            </a:gsLst>
            <a:lin ang="0" scaled="1"/>
          </a:gra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60045" y="2946082"/>
            <a:ext cx="50422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Bisnis SPPG – Program Makan Bergizi Gratis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7665" y="3296602"/>
            <a:ext cx="57927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Inventaris Kewajiban Pajak • Compliance Calendar • Tax Optimization Strategy</a:t>
            </a:r>
          </a:p>
        </p:txBody>
      </p:sp>
      <p:sp>
        <p:nvSpPr>
          <p:cNvPr id="16" name="Line 16"/>
          <p:cNvSpPr/>
          <p:nvPr/>
        </p:nvSpPr>
        <p:spPr>
          <a:xfrm>
            <a:off x="381000" y="37147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2C528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9570" y="3884295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Sudut Pandang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7665" y="4058602"/>
            <a:ext cx="31665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CFO / Tax Manager / Investment Analyst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9570" y="4360545"/>
            <a:ext cx="982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Omzet Tahunan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7665" y="4534852"/>
            <a:ext cx="39394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14,08 Miliar (3.000 porsi × 313 hari × Rp 15.000)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8070" y="4360545"/>
            <a:ext cx="7523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Tahun Pajak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6165" y="4534852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9570" y="48367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CAPEX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7665" y="5011102"/>
            <a:ext cx="1008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3,5 Miliar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08070" y="4836795"/>
            <a:ext cx="627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Karyawan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06165" y="5011102"/>
            <a:ext cx="7271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47 Orang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9570" y="5522595"/>
            <a:ext cx="4071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A8A"/>
                </a:solidFill>
                <a:latin typeface="Inter"/>
                <a:ea typeface="Microsoft YaHei"/>
                <a:cs typeface="Inter"/>
              </a:rPr>
              <a:t>Tanggal Penyusunan: 20 Mei 2026 | Cut-off Regulasi: 19 Mei 2026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1619250"/>
            <a:ext cx="2476500" cy="1190625"/>
          </a:xfrm>
          <a:prstGeom prst="roundRect">
            <a:avLst>
              <a:gd name="adj" fmla="val 64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C528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223903" y="1884045"/>
            <a:ext cx="15541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CASH EFFECTIVE TAX RATE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63253" y="2167890"/>
            <a:ext cx="147549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52,2%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0484" y="2625566"/>
            <a:ext cx="10210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6A8A"/>
                </a:solidFill>
                <a:latin typeface="Inter"/>
                <a:ea typeface="Microsoft YaHei"/>
                <a:cs typeface="Inter"/>
              </a:rPr>
              <a:t>vs 22% Statutory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429750" y="1619250"/>
            <a:ext cx="2476500" cy="1190625"/>
          </a:xfrm>
          <a:prstGeom prst="roundRect">
            <a:avLst>
              <a:gd name="adj" fmla="val 64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C5282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913906" y="1884045"/>
            <a:ext cx="1508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TOTAL CASH TAX / TAHUN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05779" y="2198370"/>
            <a:ext cx="232444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195–245 jt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49042" y="2625566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6A8A"/>
                </a:solidFill>
                <a:latin typeface="Inter"/>
                <a:ea typeface="Microsoft YaHei"/>
                <a:cs typeface="Inter"/>
              </a:rPr>
              <a:t>Belum termasuk PBJT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762750" y="3000375"/>
            <a:ext cx="2476500" cy="1190625"/>
          </a:xfrm>
          <a:prstGeom prst="roundRect">
            <a:avLst>
              <a:gd name="adj" fmla="val 6400"/>
            </a:avLst>
          </a:prstGeom>
          <a:solidFill>
            <a:srgbClr val="C53030">
              <a:alpha val="15000"/>
            </a:srgbClr>
          </a:solidFill>
          <a:ln w="9525">
            <a:solidFill>
              <a:srgbClr val="C5303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762750" y="3000375"/>
            <a:ext cx="47625" cy="1190625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492708" y="325564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RED FLAG: PBJT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15846" y="3534728"/>
            <a:ext cx="1570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Rp 1,4 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03722" y="4006691"/>
            <a:ext cx="13945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Risiko Eksposur / Tahun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429750" y="3000375"/>
            <a:ext cx="2476500" cy="1190625"/>
          </a:xfrm>
          <a:prstGeom prst="roundRect">
            <a:avLst>
              <a:gd name="adj" fmla="val 64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2C5282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989487" y="3255645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PPH BADAN STATUTORY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08588" y="3453765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24943" y="4006691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6A8A"/>
                </a:solidFill>
                <a:latin typeface="Inter"/>
                <a:ea typeface="Microsoft YaHei"/>
                <a:cs typeface="Inter"/>
              </a:rPr>
              <a:t>Tarif Normal (UU HPP)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762750" y="440055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826996" y="4511516"/>
            <a:ext cx="10150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A9FC0"/>
                </a:solidFill>
                <a:latin typeface="Inter"/>
                <a:ea typeface="Microsoft YaHei"/>
                <a:cs typeface="Inter"/>
              </a:rPr>
              <a:t>5 KATEGORI PAJAK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55059" y="4685824"/>
            <a:ext cx="4958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PPh Badan • Withholding Tax • PPN/PBJT • Pajak Daerah • Bea Meterai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0A1929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6A8A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44789" y="6681788"/>
            <a:ext cx="2709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24963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PARAMETER DOKUMEN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36403" y="304324"/>
            <a:ext cx="2886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839152"/>
            <a:ext cx="94961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Dokumen ini disusun untuk mengidentifikasi seluruh jenis pajak SPPG MBG, menganalisis treatment berdasarkan regulasi terkini,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7665" y="1029652"/>
            <a:ext cx="89134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dan menyusun strategi tax management untuk mengoptimalkan beban pajak efektif sambil memastikan kepatuhan penuh.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33500"/>
            <a:ext cx="5524500" cy="34290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91288" y="1439228"/>
            <a:ext cx="855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Parameter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47487" y="1439228"/>
            <a:ext cx="4775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Detail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81000" y="1676400"/>
            <a:ext cx="55245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381000" y="203835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63868" y="17997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Topik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3618" y="1799749"/>
            <a:ext cx="29795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Tax Planning &amp; Compliance untuk Mitra SPPG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81000" y="2038350"/>
            <a:ext cx="5524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381000" y="240030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63868" y="2161699"/>
            <a:ext cx="1007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Sudut Pandang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73618" y="2161699"/>
            <a:ext cx="28015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CFO / Tax Manager / Investment Analyst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81000" y="2400300"/>
            <a:ext cx="55245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1" name="Line 21"/>
          <p:cNvSpPr/>
          <p:nvPr/>
        </p:nvSpPr>
        <p:spPr>
          <a:xfrm>
            <a:off x="381000" y="276225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63868" y="2523649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Periode Referensi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73618" y="2523649"/>
            <a:ext cx="1228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Tahun Pajak 2026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2762250"/>
            <a:ext cx="5524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381000" y="312420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63868" y="288559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Asumsi Omzet Tahunan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73618" y="2885599"/>
            <a:ext cx="3658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14,08 miliar (3.000 porsi × 313 hari × Rp 15.000)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81000" y="3124200"/>
            <a:ext cx="55245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381000" y="348615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3868" y="32475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Asumsi Karyawan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73618" y="3247549"/>
            <a:ext cx="2666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47 orang (min wajib Juknis 401.1/2025)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81000" y="3486150"/>
            <a:ext cx="55245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81000" y="384810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63868" y="36094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Asumsi CAPEX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73618" y="3609499"/>
            <a:ext cx="936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Rp 3,5 miliar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81000" y="3848100"/>
            <a:ext cx="55245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381000" y="421005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63868" y="3971449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Tanggal Penyusunan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273618" y="3971449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20 Mei 2026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1333500"/>
            <a:ext cx="5524500" cy="2876550"/>
          </a:xfrm>
          <a:prstGeom prst="roundRect">
            <a:avLst>
              <a:gd name="adj" fmla="val 1325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41" name="Line 41"/>
          <p:cNvSpPr/>
          <p:nvPr/>
        </p:nvSpPr>
        <p:spPr>
          <a:xfrm>
            <a:off x="2190750" y="1333500"/>
            <a:ext cx="9525" cy="2876550"/>
          </a:xfrm>
          <a:custGeom>
            <a:avLst/>
            <a:gdLst/>
            <a:ahLst/>
            <a:cxnLst/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477000" y="1333500"/>
            <a:ext cx="5334000" cy="2876550"/>
          </a:xfrm>
          <a:prstGeom prst="roundRect">
            <a:avLst>
              <a:gd name="adj" fmla="val 1987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77000" y="1333500"/>
            <a:ext cx="5334000" cy="34290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277258" y="1439228"/>
            <a:ext cx="17334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Ruang Lingkup Analisis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667500" y="18288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807518" y="1809274"/>
            <a:ext cx="54359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Peta lengkap kewajiban pajak SPPG (pre-operasional hingga pelaporan tahunan)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21145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807518" y="2095024"/>
            <a:ext cx="38980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Analisis PPh Badan, Withholding Tax (PPh 21/22/23/4(2))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667500" y="24003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807518" y="2380774"/>
            <a:ext cx="29581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PPN vs PBJT — area paling kritis dan ambigu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667500" y="26860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7518" y="2666524"/>
            <a:ext cx="38125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Pajak Daerah: BPHTB, PBB-P2, Pajak Air Tanah, Reklame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667500" y="29718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807518" y="2952274"/>
            <a:ext cx="48022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Strategi tax planning &amp; optimasi (deductible, penyusutan, gross-up)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32575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807518" y="3238024"/>
            <a:ext cx="36915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Compliance Calendar bulanan &amp; tahunan (Coretax DJP)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667500" y="35433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807518" y="3523774"/>
            <a:ext cx="3584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Matriks risiko pajak &amp; sanksi administratif / pidana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667500" y="38290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807518" y="3809524"/>
            <a:ext cx="4154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Action plan tax management pre-operasional hingga tahunan</a:t>
            </a:r>
          </a:p>
        </p:txBody>
      </p:sp>
      <p:sp>
        <p:nvSpPr>
          <p:cNvPr id="61" name="Rectangle 61"/>
          <p:cNvSpPr/>
          <p:nvPr/>
        </p:nvSpPr>
        <p:spPr>
          <a:xfrm>
            <a:off x="381000" y="4381500"/>
            <a:ext cx="11430000" cy="762000"/>
          </a:xfrm>
          <a:prstGeom prst="roundRect">
            <a:avLst>
              <a:gd name="adj" fmla="val 7500"/>
            </a:avLst>
          </a:prstGeom>
          <a:solidFill>
            <a:srgbClr val="1B3A6B">
              <a:alpha val="6000"/>
            </a:srgbClr>
          </a:solidFill>
          <a:ln w="9525">
            <a:solidFill>
              <a:srgbClr val="1B3A6B">
                <a:alpha val="20000"/>
              </a:srgbClr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59118" y="4542949"/>
            <a:ext cx="10863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Asumsi Utama |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49742" y="4542949"/>
            <a:ext cx="81913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Entitas berbadan hukum (PT/CV/Koperasi) • Tahun fiskal Januari – Desember 2026 • Satu SPPG dengan 3.000 porsi/hari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9118" y="4809649"/>
            <a:ext cx="92094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Pembayaran diterima via Yayasan Mitra • Berlaku UU HPP (UU 7/2021), PMK 168/2023 TER, PMK 81/2024 Coretax • Perda lokal bervariasi</a:t>
            </a:r>
          </a:p>
        </p:txBody>
      </p:sp>
      <p:sp>
        <p:nvSpPr>
          <p:cNvPr id="65" name="Rectangle 65"/>
          <p:cNvSpPr/>
          <p:nvPr/>
        </p:nvSpPr>
        <p:spPr>
          <a:xfrm>
            <a:off x="381000" y="5286375"/>
            <a:ext cx="11430000" cy="47625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9525">
            <a:solidFill>
              <a:srgbClr val="C53030">
                <a:alpha val="40000"/>
              </a:srgbClr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0070" y="5389245"/>
            <a:ext cx="1754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PERNYATAAN PROFESIONAL: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084070" y="5389245"/>
            <a:ext cx="72457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Dokumen ini untuk tujuan analisis tax planning awal. Bukan opini pajak formal atau tax ruling. Setiap implementasi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60070" y="5579745"/>
            <a:ext cx="78766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harus didahului oleh tax due diligence oleh Konsultan Pajak Bersertifikat (Brevet C / USKP) dan tax ruling tertulis dari KPP.</a:t>
            </a:r>
          </a:p>
        </p:txBody>
      </p:sp>
      <p:sp>
        <p:nvSpPr>
          <p:cNvPr id="69" name="Rectangle 69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42548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EXECUTIVE SUMMARY – TAX POSITION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01184" y="304324"/>
            <a:ext cx="8221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7 Poin Kunci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8618" y="799624"/>
            <a:ext cx="8853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Bisnis SPPG MBG menghadapi kompleksitas pajak multi-layer. Setiap rupiah pagu MBG akan mengalami minimal 2–3 lapis pemajakan.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06680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06680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95300" y="1181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7467" y="1236345"/>
            <a:ext cx="642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6768" y="1161574"/>
            <a:ext cx="20507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Rezim PPh Badan Reguler 22%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7720" y="1350645"/>
            <a:ext cx="4610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Omzet ~Rp 14 M/tahun melebihi batas PPh Final UMKM 0,5% (PP 55/2022).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7720" y="1522095"/>
            <a:ext cx="3138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Wajib PPh Badan normal 22% + pembukuan lengkap.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180975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81000" y="180975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95300" y="1924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60215" y="19792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768" y="1904524"/>
            <a:ext cx="22750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PPN Dikecualikan – PBJT Berlaku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7720" y="2093595"/>
            <a:ext cx="39399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Jasa boga/katering TIDAK dikenai PPN (PMK 70/PMK.03/2022).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720" y="2265045"/>
            <a:ext cx="41633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Namun PBJT daerah max 10% (UU 1/2022 HKPD) — tergantung Perda.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81000" y="255270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81000" y="255270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95300" y="2667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60215" y="272224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6768" y="2647474"/>
            <a:ext cx="25142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Withholding PPh 23 — 2% atas Bruto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7720" y="2836545"/>
            <a:ext cx="48666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Pembayaran dari BGN/Yayasan ke SPPG dipotong 2% atas bruto jasa katering.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7720" y="3007995"/>
            <a:ext cx="47745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4% jika SPPG tidak punya NPWP. Total PPh 23 dipotong: Rp 281,7 juta/tahun.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" y="329565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81000" y="329565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" y="3409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215" y="34651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6768" y="3390424"/>
            <a:ext cx="2132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PPh 21 TER untuk 47 Karyawan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7720" y="3579495"/>
            <a:ext cx="47154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Skema TER (PMK 168/2023): tarif efektif rata-rata Jan–Nov, rekonsiliasi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7720" y="3750945"/>
            <a:ext cx="4768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progresif Pasal 17 di Desember. Estimasi total PPh 21: ~Rp 5,8 juta/tahun.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81000" y="403860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381000" y="403860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95300" y="4152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0215" y="420814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06768" y="4133374"/>
            <a:ext cx="18563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BPHTB Saat Akuisisi Lahan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07720" y="4322445"/>
            <a:ext cx="389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5% × (NPOP – NPOPTKP) = ~Rp 51 juta untuk lahan Rp 1,1 miliar.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07720" y="4493895"/>
            <a:ext cx="43736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Bersifat once-off namun signifikan untuk cash flow tahun pertama.</a:t>
            </a:r>
          </a:p>
        </p:txBody>
      </p:sp>
      <p:sp>
        <p:nvSpPr>
          <p:cNvPr id="43" name="Rectangle 43"/>
          <p:cNvSpPr/>
          <p:nvPr/>
        </p:nvSpPr>
        <p:spPr>
          <a:xfrm>
            <a:off x="381000" y="478155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381000" y="478155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95300" y="48958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215" y="49510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6768" y="4876324"/>
            <a:ext cx="2185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Penyusutan CAPEX = Tax Shield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07720" y="5065395"/>
            <a:ext cx="52280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Penyusutan ~Rp 224–350 juta/tahun menghasilkan tax saving Rp 49–77 juta/tahun.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07720" y="5236845"/>
            <a:ext cx="3736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Pilih metode saldo menurun untuk front-loaded tax shield.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81000" y="5524500"/>
            <a:ext cx="5715000" cy="647700"/>
          </a:xfrm>
          <a:prstGeom prst="roundRect">
            <a:avLst>
              <a:gd name="adj" fmla="val 7353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381000" y="5524500"/>
            <a:ext cx="47625" cy="647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495300" y="5638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60215" y="569404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06768" y="5619274"/>
            <a:ext cx="3045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Effective Tax Rate (ETR) Estimasi 28–32%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07720" y="5808345"/>
            <a:ext cx="4229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Lebih tinggi dari tarif statutory 22% karena PBJT non-creditable,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07720" y="5979795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sebagai prepayment, dan beberapa biaya non-deductible.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334125" y="1066800"/>
            <a:ext cx="5476875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217160" y="1163002"/>
            <a:ext cx="17012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Position Summary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334125" y="1485900"/>
            <a:ext cx="2619375" cy="85725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009828" y="167449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Statutory Tax Rate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263167" y="1880235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62" name="Rectangle 62"/>
          <p:cNvSpPr/>
          <p:nvPr/>
        </p:nvSpPr>
        <p:spPr>
          <a:xfrm>
            <a:off x="9096375" y="1485900"/>
            <a:ext cx="2619375" cy="85725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0117122" y="1674495"/>
            <a:ext cx="5683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Book ETR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797689" y="188023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23,6%</a:t>
            </a:r>
          </a:p>
        </p:txBody>
      </p:sp>
      <p:sp>
        <p:nvSpPr>
          <p:cNvPr id="65" name="Rectangle 65"/>
          <p:cNvSpPr/>
          <p:nvPr/>
        </p:nvSpPr>
        <p:spPr>
          <a:xfrm>
            <a:off x="6334125" y="2457450"/>
            <a:ext cx="2619375" cy="85725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9525">
            <a:solidFill>
              <a:srgbClr val="1B3A6B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7354872" y="2646045"/>
            <a:ext cx="5683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Cash ETR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35439" y="285178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52,2%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096375" y="2457450"/>
            <a:ext cx="2619375" cy="85725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9896951" y="26460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Dipotong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501491" y="2900362"/>
            <a:ext cx="179961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Rp 281,7 jt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334125" y="3448050"/>
            <a:ext cx="5381625" cy="1028700"/>
          </a:xfrm>
          <a:prstGeom prst="roundRect">
            <a:avLst>
              <a:gd name="adj" fmla="val 5556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6334125" y="3448050"/>
            <a:ext cx="57150" cy="102870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6520815" y="3601402"/>
            <a:ext cx="1942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RED FLAG TERBESAR: PBJT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521768" y="3828574"/>
            <a:ext cx="39478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Jika Perda lokal mewajibkan SPPG memungut PBJT 10% atas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521768" y="4000024"/>
            <a:ext cx="27944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pembayaran dari BGN (Rp 14 miliar × 10% =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88668" y="4000024"/>
            <a:ext cx="13928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Rp 1,4 miliar/tahun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521768" y="4171474"/>
            <a:ext cx="43465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maka beban pajak efektif melampaui seluruh laba bersih mitra.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522720" y="4303395"/>
            <a:ext cx="46602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→ Wajib request tax ruling tertulis dari Bapenda sebelum operasional.</a:t>
            </a:r>
          </a:p>
        </p:txBody>
      </p:sp>
      <p:sp>
        <p:nvSpPr>
          <p:cNvPr id="79" name="Rectangle 79"/>
          <p:cNvSpPr/>
          <p:nvPr/>
        </p:nvSpPr>
        <p:spPr>
          <a:xfrm>
            <a:off x="6334125" y="4610100"/>
            <a:ext cx="5381625" cy="1447800"/>
          </a:xfrm>
          <a:prstGeom prst="roundRect">
            <a:avLst>
              <a:gd name="adj" fmla="val 3947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8030494" y="4714399"/>
            <a:ext cx="1998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Alur Pemajakan Multi-Layer</a:t>
            </a:r>
          </a:p>
        </p:txBody>
      </p:sp>
      <p:sp>
        <p:nvSpPr>
          <p:cNvPr id="81" name="Rectangle 81"/>
          <p:cNvSpPr/>
          <p:nvPr/>
        </p:nvSpPr>
        <p:spPr>
          <a:xfrm>
            <a:off x="6477000" y="4933950"/>
            <a:ext cx="1047750" cy="34290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6712063" y="5054441"/>
            <a:ext cx="5776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APBN/BGN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583805" y="4997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0"/>
                </a:solidFill>
                <a:latin typeface="Inter"/>
                <a:ea typeface="Microsoft YaHei"/>
                <a:cs typeface="Inter"/>
              </a:rPr>
              <a:t>→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810500" y="4933950"/>
            <a:ext cx="1047750" cy="34290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8080355" y="5054441"/>
            <a:ext cx="5080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Yayasan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917305" y="4997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0"/>
                </a:solidFill>
                <a:latin typeface="Inter"/>
                <a:ea typeface="Microsoft YaHei"/>
                <a:cs typeface="Inter"/>
              </a:rPr>
              <a:t>→</a:t>
            </a:r>
          </a:p>
        </p:txBody>
      </p:sp>
      <p:sp>
        <p:nvSpPr>
          <p:cNvPr id="87" name="Rectangle 87"/>
          <p:cNvSpPr/>
          <p:nvPr/>
        </p:nvSpPr>
        <p:spPr>
          <a:xfrm>
            <a:off x="9144000" y="4933950"/>
            <a:ext cx="1047750" cy="34290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9518230" y="5054441"/>
            <a:ext cx="2992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SPPG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250805" y="49977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0"/>
                </a:solidFill>
                <a:latin typeface="Inter"/>
                <a:ea typeface="Microsoft YaHei"/>
                <a:cs typeface="Inter"/>
              </a:rPr>
              <a:t>→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477500" y="4933950"/>
            <a:ext cx="1047750" cy="342900"/>
          </a:xfrm>
          <a:prstGeom prst="roundRect">
            <a:avLst>
              <a:gd name="adj" fmla="val 11111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10747355" y="5054441"/>
            <a:ext cx="5080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DJP/SPT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632615" y="540543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Dana Program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051006" y="5405438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PPh 23: 2%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294138" y="5405438"/>
            <a:ext cx="7474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Badan 22%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550962" y="5405438"/>
            <a:ext cx="9008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Kredit/Restitusi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747558" y="5808345"/>
            <a:ext cx="45642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+ PBJT Daerah (jika applicable) + PBB-P2 + Pajak Air Tanah + Bea Meterai</a:t>
            </a:r>
          </a:p>
        </p:txBody>
      </p:sp>
      <p:sp>
        <p:nvSpPr>
          <p:cNvPr id="97" name="Rectangle 97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44573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RINGKASAN BEBAN PAJAK TAHUNAN SPPG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275" y="304324"/>
            <a:ext cx="20041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Base Case – Tahun Pajak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285750" y="742950"/>
            <a:ext cx="11620500" cy="34290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9618" y="856774"/>
            <a:ext cx="8172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Jenis Pajak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20469" y="856774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Tarif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0353" y="856774"/>
            <a:ext cx="12582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Estimasi Tahunan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28172" y="856774"/>
            <a:ext cx="1146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Sifat / Catatan</a:t>
            </a:r>
          </a:p>
        </p:txBody>
      </p:sp>
      <p:sp>
        <p:nvSpPr>
          <p:cNvPr id="12" name="Line 12"/>
          <p:cNvSpPr/>
          <p:nvPr/>
        </p:nvSpPr>
        <p:spPr>
          <a:xfrm>
            <a:off x="5334000" y="7429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6286500" y="7429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8572500" y="7429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85750" y="1085850"/>
            <a:ext cx="11620500" cy="4762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85750" y="1085850"/>
            <a:ext cx="38100" cy="47625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25768" y="1161574"/>
            <a:ext cx="1983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PPh Badan (Pasal 17 UU PPh)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7672" y="1368266"/>
            <a:ext cx="23343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Atas penghasilan kena pajak akhir tahun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73573" y="12487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04289" y="1248728"/>
            <a:ext cx="12504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Rp 127 – 136 juta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56320" y="1169670"/>
            <a:ext cx="1304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Atas laba kena pajak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57272" y="1349216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Dibayar via PPh 25 + PPh 29</a:t>
            </a:r>
          </a:p>
        </p:txBody>
      </p:sp>
      <p:sp>
        <p:nvSpPr>
          <p:cNvPr id="23" name="Line 23"/>
          <p:cNvSpPr/>
          <p:nvPr/>
        </p:nvSpPr>
        <p:spPr>
          <a:xfrm>
            <a:off x="285750" y="156210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85750" y="1562100"/>
            <a:ext cx="116205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85750" y="1562100"/>
            <a:ext cx="38100" cy="4762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25768" y="1637824"/>
            <a:ext cx="2618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21 Karyawan (TER PMK 168/2023)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7672" y="1844516"/>
            <a:ext cx="2840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47 karyawan — mayoritas di bawah threshold PPh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36706" y="1724978"/>
            <a:ext cx="566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 – 34%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5181" y="1724978"/>
            <a:ext cx="9686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~Rp 5,8 juta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56320" y="1645920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Withhold ke karyawan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57272" y="1825466"/>
            <a:ext cx="10571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SPPG setor ke DJP</a:t>
            </a:r>
          </a:p>
        </p:txBody>
      </p:sp>
      <p:sp>
        <p:nvSpPr>
          <p:cNvPr id="32" name="Line 32"/>
          <p:cNvSpPr/>
          <p:nvPr/>
        </p:nvSpPr>
        <p:spPr>
          <a:xfrm>
            <a:off x="285750" y="203835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285750" y="2038350"/>
            <a:ext cx="11620500" cy="4762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85750" y="2038350"/>
            <a:ext cx="38100" cy="47625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25768" y="2114074"/>
            <a:ext cx="28506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23 Dipotong Yayasan (Kredit Pajak)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7672" y="2320766"/>
            <a:ext cx="29247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2% × bruto Rp 14,085 miliar — bersifat prepayment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17854" y="220122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21028" y="2201228"/>
            <a:ext cx="10169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281,7 juta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56320" y="2122170"/>
            <a:ext cx="16527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Prepayment – dikreditkan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657272" y="2301716"/>
            <a:ext cx="18042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Cash trap – sering lebih bayar!</a:t>
            </a:r>
          </a:p>
        </p:txBody>
      </p:sp>
      <p:sp>
        <p:nvSpPr>
          <p:cNvPr id="41" name="Line 41"/>
          <p:cNvSpPr/>
          <p:nvPr/>
        </p:nvSpPr>
        <p:spPr>
          <a:xfrm>
            <a:off x="285750" y="251460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285750" y="2514600"/>
            <a:ext cx="116205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285750" y="2514600"/>
            <a:ext cx="38100" cy="4762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25768" y="2590324"/>
            <a:ext cx="27161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4(2) Final Sewa (jika sewa lahan)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7672" y="2797016"/>
            <a:ext cx="27500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Asumsi sewa Rp 300 juta/tahun — dipotong SPPG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93701" y="2677478"/>
            <a:ext cx="252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10%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033742" y="2677478"/>
            <a:ext cx="7915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30 juta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656320" y="2598420"/>
            <a:ext cx="1376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Final, non-creditable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57272" y="2777966"/>
            <a:ext cx="11595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Langsung jadi beban</a:t>
            </a:r>
          </a:p>
        </p:txBody>
      </p:sp>
      <p:sp>
        <p:nvSpPr>
          <p:cNvPr id="50" name="Line 50"/>
          <p:cNvSpPr/>
          <p:nvPr/>
        </p:nvSpPr>
        <p:spPr>
          <a:xfrm>
            <a:off x="285750" y="299085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285750" y="2990850"/>
            <a:ext cx="11620500" cy="4762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285750" y="2990850"/>
            <a:ext cx="38100" cy="47625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25768" y="3066574"/>
            <a:ext cx="2342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PBJT Daerah (jika tidak exempt)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27672" y="3273266"/>
            <a:ext cx="3382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GRAY AREA — wajib konfirmasi Bapenda sebelum operasional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320604" y="3153728"/>
            <a:ext cx="5982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Max 10%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8314" y="3153728"/>
            <a:ext cx="1242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Rp 0 – 1,4 miliar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56320" y="3074670"/>
            <a:ext cx="6715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GRAY AREA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57272" y="3254216"/>
            <a:ext cx="1641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Tergantung Perda setempat</a:t>
            </a:r>
          </a:p>
        </p:txBody>
      </p:sp>
      <p:sp>
        <p:nvSpPr>
          <p:cNvPr id="59" name="Line 59"/>
          <p:cNvSpPr/>
          <p:nvPr/>
        </p:nvSpPr>
        <p:spPr>
          <a:xfrm>
            <a:off x="285750" y="346710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53030">
                <a:alpha val="3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285750" y="3467100"/>
            <a:ext cx="11620500" cy="4762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285750" y="3467100"/>
            <a:ext cx="38100" cy="4762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25768" y="3542824"/>
            <a:ext cx="17292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BPHTB (sekali, tahun-1)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27672" y="3749516"/>
            <a:ext cx="2888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5% × (NPOP – NPOPTKP) — capitalize ke aset tanah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17854" y="36299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5%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921028" y="3629978"/>
            <a:ext cx="10169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51–55 juta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656320" y="3550920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One-off saat akuisisi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657272" y="3730466"/>
            <a:ext cx="13403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Capitalize ke nilai aset</a:t>
            </a:r>
          </a:p>
        </p:txBody>
      </p:sp>
      <p:sp>
        <p:nvSpPr>
          <p:cNvPr id="68" name="Line 68"/>
          <p:cNvSpPr/>
          <p:nvPr/>
        </p:nvSpPr>
        <p:spPr>
          <a:xfrm>
            <a:off x="285750" y="394335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285750" y="3943350"/>
            <a:ext cx="116205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285750" y="3943350"/>
            <a:ext cx="38100" cy="4762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425768" y="4019074"/>
            <a:ext cx="1138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PBB-P2 Tahunan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27672" y="4225766"/>
            <a:ext cx="26838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Pajak Bumi &amp; Bangunan lahan dapur 500–800 m²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223992" y="4106228"/>
            <a:ext cx="7915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0,1 – 0,3%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917003" y="4106228"/>
            <a:ext cx="1024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3 – 10 juta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656320" y="4122420"/>
            <a:ext cx="13701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Pajak daerah (Perda)</a:t>
            </a:r>
          </a:p>
        </p:txBody>
      </p:sp>
      <p:sp>
        <p:nvSpPr>
          <p:cNvPr id="76" name="Line 76"/>
          <p:cNvSpPr/>
          <p:nvPr/>
        </p:nvSpPr>
        <p:spPr>
          <a:xfrm>
            <a:off x="285750" y="441960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285750" y="4419600"/>
            <a:ext cx="11620500" cy="4762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78" name="Rectangle 78"/>
          <p:cNvSpPr/>
          <p:nvPr/>
        </p:nvSpPr>
        <p:spPr>
          <a:xfrm>
            <a:off x="285750" y="4419600"/>
            <a:ext cx="38100" cy="4762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425768" y="4495324"/>
            <a:ext cx="11087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Pajak Air Tanah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7672" y="4702016"/>
            <a:ext cx="25452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~150–300 m³/bulan konsumsi dapur produksi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344757" y="4582478"/>
            <a:ext cx="549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Per m³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917003" y="4582478"/>
            <a:ext cx="1024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6 – 18 juta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656320" y="4598670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Pajak daerah, bulanan</a:t>
            </a:r>
          </a:p>
        </p:txBody>
      </p:sp>
      <p:sp>
        <p:nvSpPr>
          <p:cNvPr id="84" name="Line 84"/>
          <p:cNvSpPr/>
          <p:nvPr/>
        </p:nvSpPr>
        <p:spPr>
          <a:xfrm>
            <a:off x="285750" y="489585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5" name="Rectangle 85"/>
          <p:cNvSpPr/>
          <p:nvPr/>
        </p:nvSpPr>
        <p:spPr>
          <a:xfrm>
            <a:off x="285750" y="4895850"/>
            <a:ext cx="116205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6" name="Rectangle 86"/>
          <p:cNvSpPr/>
          <p:nvPr/>
        </p:nvSpPr>
        <p:spPr>
          <a:xfrm>
            <a:off x="285750" y="4895850"/>
            <a:ext cx="38100" cy="4762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25768" y="4971574"/>
            <a:ext cx="21105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Bea Meterai (multi dokumen)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27672" y="5178266"/>
            <a:ext cx="36959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Kontrak, bukti penerimaan &gt; Rp 5 juta — est. 50–200 dok/tahun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248145" y="5058728"/>
            <a:ext cx="7432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10.000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852595" y="5058728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0,5 – 2 juta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656320" y="5074920"/>
            <a:ext cx="13701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Per dokumen &gt; Rp 5 jt</a:t>
            </a:r>
          </a:p>
        </p:txBody>
      </p:sp>
      <p:sp>
        <p:nvSpPr>
          <p:cNvPr id="92" name="Line 92"/>
          <p:cNvSpPr/>
          <p:nvPr/>
        </p:nvSpPr>
        <p:spPr>
          <a:xfrm>
            <a:off x="285750" y="5372100"/>
            <a:ext cx="11620500" cy="9525"/>
          </a:xfrm>
          <a:custGeom>
            <a:avLst/>
            <a:gdLst/>
            <a:ahLst/>
            <a:cxnLst/>
            <a:rect l="l" t="t" r="r" b="b"/>
            <a:pathLst>
              <a:path w="11620500" h="9525">
                <a:moveTo>
                  <a:pt x="0" y="0"/>
                </a:moveTo>
                <a:lnTo>
                  <a:pt x="11620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93" name="Rectangle 93"/>
          <p:cNvSpPr/>
          <p:nvPr/>
        </p:nvSpPr>
        <p:spPr>
          <a:xfrm>
            <a:off x="285750" y="5372100"/>
            <a:ext cx="11620500" cy="47625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424815" y="5554028"/>
            <a:ext cx="18864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TOTAL CASH TAX TAHUNAN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207413" y="5570220"/>
            <a:ext cx="824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(excl. PBJT)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691970" y="5537835"/>
            <a:ext cx="14750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195 – 245 juta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56320" y="5570220"/>
            <a:ext cx="13504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Belum termasuk PBJT</a:t>
            </a:r>
          </a:p>
        </p:txBody>
      </p:sp>
      <p:sp>
        <p:nvSpPr>
          <p:cNvPr id="98" name="Rectangle 98"/>
          <p:cNvSpPr/>
          <p:nvPr/>
        </p:nvSpPr>
        <p:spPr>
          <a:xfrm>
            <a:off x="285750" y="742950"/>
            <a:ext cx="11620500" cy="5105400"/>
          </a:xfrm>
          <a:prstGeom prst="roundRect">
            <a:avLst>
              <a:gd name="adj" fmla="val 746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99" name="Line 99"/>
          <p:cNvSpPr/>
          <p:nvPr/>
        </p:nvSpPr>
        <p:spPr>
          <a:xfrm>
            <a:off x="5334000" y="742950"/>
            <a:ext cx="9525" cy="5105400"/>
          </a:xfrm>
          <a:custGeom>
            <a:avLst/>
            <a:gdLst/>
            <a:ahLst/>
            <a:cxnLst/>
            <a:rect l="l" t="t" r="r" b="b"/>
            <a:pathLst>
              <a:path w="9525" h="5105400">
                <a:moveTo>
                  <a:pt x="0" y="0"/>
                </a:moveTo>
                <a:lnTo>
                  <a:pt x="0" y="51054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0" name="Line 100"/>
          <p:cNvSpPr/>
          <p:nvPr/>
        </p:nvSpPr>
        <p:spPr>
          <a:xfrm>
            <a:off x="6286500" y="742950"/>
            <a:ext cx="9525" cy="5105400"/>
          </a:xfrm>
          <a:custGeom>
            <a:avLst/>
            <a:gdLst/>
            <a:ahLst/>
            <a:cxnLst/>
            <a:rect l="l" t="t" r="r" b="b"/>
            <a:pathLst>
              <a:path w="9525" h="5105400">
                <a:moveTo>
                  <a:pt x="0" y="0"/>
                </a:moveTo>
                <a:lnTo>
                  <a:pt x="0" y="51054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1" name="Line 101"/>
          <p:cNvSpPr/>
          <p:nvPr/>
        </p:nvSpPr>
        <p:spPr>
          <a:xfrm>
            <a:off x="8572500" y="742950"/>
            <a:ext cx="9525" cy="5105400"/>
          </a:xfrm>
          <a:custGeom>
            <a:avLst/>
            <a:gdLst/>
            <a:ahLst/>
            <a:cxnLst/>
            <a:rect l="l" t="t" r="r" b="b"/>
            <a:pathLst>
              <a:path w="9525" h="5105400">
                <a:moveTo>
                  <a:pt x="0" y="0"/>
                </a:moveTo>
                <a:lnTo>
                  <a:pt x="0" y="51054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2" name="TextBox 102"/>
          <p:cNvSpPr txBox="1"/>
          <p:nvPr/>
        </p:nvSpPr>
        <p:spPr>
          <a:xfrm>
            <a:off x="369570" y="5998845"/>
            <a:ext cx="85404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* BPJS Kesehatan (5% × gaji) dan BPJS Ketenagakerjaan (~5,7% gaji) bukan pajak namun wajib compliance — tidak termasuk dalam tabel.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69570" y="6170295"/>
            <a:ext cx="82417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** Jika PBJT 10% applicable: total beban pajak bisa melampaui Rp 1,6 miliar/tahun — melebihi seluruh laba bersih operasional.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59755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PETA KEWAJIBAN PAJAK SPPG MBG – FULL LIFECYCLE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87907" y="304324"/>
            <a:ext cx="1135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5 Kategori Pajak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" y="742950"/>
            <a:ext cx="3695700" cy="1733550"/>
          </a:xfrm>
          <a:prstGeom prst="roundRect">
            <a:avLst>
              <a:gd name="adj" fmla="val 3297"/>
            </a:avLst>
          </a:prstGeom>
          <a:solidFill>
            <a:srgbClr val="EEF2F8"/>
          </a:solidFill>
          <a:ln w="14288">
            <a:solidFill>
              <a:srgbClr val="2C528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90500" y="742950"/>
            <a:ext cx="3695700" cy="323850"/>
          </a:xfrm>
          <a:prstGeom prst="roundRect">
            <a:avLst>
              <a:gd name="adj" fmla="val 14706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31668" y="847249"/>
            <a:ext cx="20133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A. PAJAK PENGHASILAN BADAN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" y="11430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4820" y="1141095"/>
            <a:ext cx="8302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PPh Pasal 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772" y="1301591"/>
            <a:ext cx="28223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Angsuran: 1/12 × PPh terutang tahun sebelumnya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3850" y="1485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4820" y="1483995"/>
            <a:ext cx="8302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PPh Pasal 29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772" y="1644491"/>
            <a:ext cx="26958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Kekurangan bayar: SPT Tahunan – kredit pajak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3850" y="18383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BD5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4820" y="1836420"/>
            <a:ext cx="12847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PPh Final UMKM 0,5%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5772" y="1996916"/>
            <a:ext cx="2147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TIDAK APPLICABLE (omzet &gt; Rp 4,8 M)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772" y="2292191"/>
            <a:ext cx="22096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Tarif: 22% | Lapor: SPT Tahunan 1771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076700" y="742950"/>
            <a:ext cx="4038600" cy="1733550"/>
          </a:xfrm>
          <a:prstGeom prst="roundRect">
            <a:avLst>
              <a:gd name="adj" fmla="val 3297"/>
            </a:avLst>
          </a:prstGeom>
          <a:solidFill>
            <a:srgbClr val="EEF2F8"/>
          </a:solidFill>
          <a:ln w="14288">
            <a:solidFill>
              <a:srgbClr val="2C528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076700" y="742950"/>
            <a:ext cx="4038600" cy="323850"/>
          </a:xfrm>
          <a:prstGeom prst="roundRect">
            <a:avLst>
              <a:gd name="adj" fmla="val 14706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827661" y="847249"/>
            <a:ext cx="2536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B. WITHHOLDING TAX (PEMOTONGAN)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98620" y="1083945"/>
            <a:ext cx="1616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SPPG Sebagai Pemotong: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10050" y="12382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332922" y="1234916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21 — Gaji 47 karyawan (TER)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210050" y="1381125"/>
            <a:ext cx="57150" cy="57150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332922" y="1377791"/>
            <a:ext cx="28284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23 — Sewa &amp; jasa dari supplier WP Badan (2%)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10050" y="1514475"/>
            <a:ext cx="57150" cy="57150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332922" y="1511141"/>
            <a:ext cx="3195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4(2) — Sewa tanah/bangunan pihak ke-3 (10% final)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98620" y="1693545"/>
            <a:ext cx="15548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SPPG Sebagai Dipotong: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210050" y="18478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332922" y="1844516"/>
            <a:ext cx="2707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23 oleh Yayasan — 2% × bruto jasa katering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10050" y="19812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332922" y="1977866"/>
            <a:ext cx="31055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22 jika BGN langsung — 1,5% atas pembelian barang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99572" y="2292191"/>
            <a:ext cx="35317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Lapor: SPT Masa tgl 20 bln berikut via e-Bupot (Coretax)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05800" y="742950"/>
            <a:ext cx="3695700" cy="1733550"/>
          </a:xfrm>
          <a:prstGeom prst="roundRect">
            <a:avLst>
              <a:gd name="adj" fmla="val 3297"/>
            </a:avLst>
          </a:prstGeom>
          <a:solidFill>
            <a:srgbClr val="FFF5F5"/>
          </a:solidFill>
          <a:ln w="14288">
            <a:solidFill>
              <a:srgbClr val="C5303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305800" y="742950"/>
            <a:ext cx="3695700" cy="323850"/>
          </a:xfrm>
          <a:prstGeom prst="roundRect">
            <a:avLst>
              <a:gd name="adj" fmla="val 14706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48818" y="847249"/>
            <a:ext cx="16096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C. PPN / PBJT (KRITIS)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439150" y="11430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580120" y="1141095"/>
            <a:ext cx="1741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PPN atas penyerahan SPPG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81072" y="1320641"/>
            <a:ext cx="2135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DIKECUALIKAN (PMK 70/PMK.03/2022)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439150" y="1504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580120" y="1503045"/>
            <a:ext cx="1741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PPN Masukan dari supplier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81072" y="1682591"/>
            <a:ext cx="24609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TIDAK dapat dikreditkan (output non-PPN)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439150" y="1866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580120" y="1864995"/>
            <a:ext cx="15548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PBJT Makanan/Minuman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81072" y="2044541"/>
            <a:ext cx="23825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Max 10% per Perda — GRAY AREA untuk MBG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28672" y="2273141"/>
            <a:ext cx="2899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→ Wajib tax ruling Bapenda sebelum operasional!</a:t>
            </a:r>
          </a:p>
        </p:txBody>
      </p:sp>
      <p:sp>
        <p:nvSpPr>
          <p:cNvPr id="49" name="Rectangle 49"/>
          <p:cNvSpPr/>
          <p:nvPr/>
        </p:nvSpPr>
        <p:spPr>
          <a:xfrm>
            <a:off x="190500" y="2628900"/>
            <a:ext cx="3695700" cy="238125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4288">
            <a:solidFill>
              <a:srgbClr val="2C5282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190500" y="2628900"/>
            <a:ext cx="3695700" cy="323850"/>
          </a:xfrm>
          <a:prstGeom prst="roundRect">
            <a:avLst>
              <a:gd name="adj" fmla="val 14706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136331" y="2733199"/>
            <a:ext cx="18040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D. PAJAK DAERAH (PERDA)</a:t>
            </a:r>
          </a:p>
        </p:txBody>
      </p:sp>
      <p:sp>
        <p:nvSpPr>
          <p:cNvPr id="52" name="Rectangle 52"/>
          <p:cNvSpPr/>
          <p:nvPr/>
        </p:nvSpPr>
        <p:spPr>
          <a:xfrm>
            <a:off x="323850" y="30480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64820" y="3046095"/>
            <a:ext cx="402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BPHTB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65772" y="3216116"/>
            <a:ext cx="24850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5% × (NPOP – NPOPTKP) saat akuisisi tanah</a:t>
            </a:r>
          </a:p>
        </p:txBody>
      </p:sp>
      <p:sp>
        <p:nvSpPr>
          <p:cNvPr id="55" name="Rectangle 55"/>
          <p:cNvSpPr/>
          <p:nvPr/>
        </p:nvSpPr>
        <p:spPr>
          <a:xfrm>
            <a:off x="323850" y="3409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64820" y="3408045"/>
            <a:ext cx="4783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PBB-P2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65772" y="3578066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0,1–0,3% × NJOP tahunan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23850" y="37623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64820" y="3760470"/>
            <a:ext cx="10234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Pajak Air Tanah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65772" y="393049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Per m³ × tarif Perda — bulanan</a:t>
            </a:r>
          </a:p>
        </p:txBody>
      </p:sp>
      <p:sp>
        <p:nvSpPr>
          <p:cNvPr id="61" name="Rectangle 61"/>
          <p:cNvSpPr/>
          <p:nvPr/>
        </p:nvSpPr>
        <p:spPr>
          <a:xfrm>
            <a:off x="323850" y="4114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64820" y="4112895"/>
            <a:ext cx="9337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Pajak Reklame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65772" y="4282916"/>
            <a:ext cx="22440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Papan nama dapur — per meter persegi</a:t>
            </a:r>
          </a:p>
        </p:txBody>
      </p:sp>
      <p:sp>
        <p:nvSpPr>
          <p:cNvPr id="64" name="Rectangle 64"/>
          <p:cNvSpPr/>
          <p:nvPr/>
        </p:nvSpPr>
        <p:spPr>
          <a:xfrm>
            <a:off x="323850" y="4457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464820" y="4455795"/>
            <a:ext cx="12926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Retribusi Perizinan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5772" y="4625816"/>
            <a:ext cx="19789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SLHS, IMB/PBG, HO — sesuai Perda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13372" y="4835366"/>
            <a:ext cx="32091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Otoritas: Bapenda Kab/Kota | Bervariasi per daerah</a:t>
            </a:r>
          </a:p>
        </p:txBody>
      </p:sp>
      <p:sp>
        <p:nvSpPr>
          <p:cNvPr id="68" name="Rectangle 68"/>
          <p:cNvSpPr/>
          <p:nvPr/>
        </p:nvSpPr>
        <p:spPr>
          <a:xfrm>
            <a:off x="4076700" y="2628900"/>
            <a:ext cx="4038600" cy="238125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4288">
            <a:solidFill>
              <a:srgbClr val="2C5282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4076700" y="2628900"/>
            <a:ext cx="4038600" cy="323850"/>
          </a:xfrm>
          <a:prstGeom prst="roundRect">
            <a:avLst>
              <a:gd name="adj" fmla="val 14706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096794" y="2733199"/>
            <a:ext cx="1998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E. PAJAK LAIN &amp; COMPLIANCE</a:t>
            </a:r>
          </a:p>
        </p:txBody>
      </p:sp>
      <p:sp>
        <p:nvSpPr>
          <p:cNvPr id="71" name="Rectangle 71"/>
          <p:cNvSpPr/>
          <p:nvPr/>
        </p:nvSpPr>
        <p:spPr>
          <a:xfrm>
            <a:off x="4210050" y="30480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4351020" y="3046095"/>
            <a:ext cx="816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Bea Meterai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351972" y="3216116"/>
            <a:ext cx="27320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 10.000 per dokumen &gt; Rp 5 juta (UU 10/2020)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10050" y="3409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718096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4351020" y="34080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BPJS Kesehatan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351972" y="3578066"/>
            <a:ext cx="29609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5% × gaji (4% employer, 1% karyawan) — bukan pajak</a:t>
            </a:r>
          </a:p>
        </p:txBody>
      </p:sp>
      <p:sp>
        <p:nvSpPr>
          <p:cNvPr id="77" name="Rectangle 77"/>
          <p:cNvSpPr/>
          <p:nvPr/>
        </p:nvSpPr>
        <p:spPr>
          <a:xfrm>
            <a:off x="4210050" y="37623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718096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4351020" y="3760470"/>
            <a:ext cx="14720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BPJS Ketenagakerjaan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351972" y="3930491"/>
            <a:ext cx="2454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~5,7% gaji — bukan pajak namun compliance</a:t>
            </a:r>
          </a:p>
        </p:txBody>
      </p:sp>
      <p:sp>
        <p:nvSpPr>
          <p:cNvPr id="80" name="Rectangle 80"/>
          <p:cNvSpPr/>
          <p:nvPr/>
        </p:nvSpPr>
        <p:spPr>
          <a:xfrm>
            <a:off x="4210050" y="4114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4351020" y="4112895"/>
            <a:ext cx="8302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Pasal 26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351972" y="4282916"/>
            <a:ext cx="3051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Atas pembayaran ke WPLN (jika ada konsultan asing)</a:t>
            </a:r>
          </a:p>
        </p:txBody>
      </p:sp>
      <p:sp>
        <p:nvSpPr>
          <p:cNvPr id="83" name="Rectangle 83"/>
          <p:cNvSpPr/>
          <p:nvPr/>
        </p:nvSpPr>
        <p:spPr>
          <a:xfrm>
            <a:off x="4210050" y="4505325"/>
            <a:ext cx="3771900" cy="400050"/>
          </a:xfrm>
          <a:prstGeom prst="roundRect">
            <a:avLst>
              <a:gd name="adj" fmla="val 9524"/>
            </a:avLst>
          </a:prstGeom>
          <a:solidFill>
            <a:srgbClr val="1B3A6B">
              <a:alpha val="8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4351972" y="4587716"/>
            <a:ext cx="17289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Coretax DJP (PMK 81/2024):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304472" y="4587716"/>
            <a:ext cx="1918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Semua SPT &amp; e-Bupot via Coretax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351972" y="4740116"/>
            <a:ext cx="3671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NIK = NPWP karyawan | Real-time matching | e-Bupot massal CSV</a:t>
            </a:r>
          </a:p>
        </p:txBody>
      </p:sp>
      <p:sp>
        <p:nvSpPr>
          <p:cNvPr id="87" name="Rectangle 87"/>
          <p:cNvSpPr/>
          <p:nvPr/>
        </p:nvSpPr>
        <p:spPr>
          <a:xfrm>
            <a:off x="8305800" y="2628900"/>
            <a:ext cx="3695700" cy="238125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14288">
            <a:solidFill>
              <a:srgbClr val="2C5282"/>
            </a:solidFill>
          </a:ln>
        </p:spPr>
      </p:sp>
      <p:sp>
        <p:nvSpPr>
          <p:cNvPr id="88" name="Rectangle 88"/>
          <p:cNvSpPr/>
          <p:nvPr/>
        </p:nvSpPr>
        <p:spPr>
          <a:xfrm>
            <a:off x="8305800" y="2628900"/>
            <a:ext cx="3695700" cy="323850"/>
          </a:xfrm>
          <a:prstGeom prst="roundRect">
            <a:avLst>
              <a:gd name="adj" fmla="val 14706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9449744" y="2733199"/>
            <a:ext cx="14078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DASAR HUKUM UTAMA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427720" y="2988945"/>
            <a:ext cx="10855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Undang-Undang: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428672" y="3149441"/>
            <a:ext cx="20632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UU 7/2021 (HPP) • UU 36/2008 (PPh)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428672" y="3301841"/>
            <a:ext cx="2099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UU 1/2022 (HKPD) • UU 16/2009 (KUP)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427720" y="3503295"/>
            <a:ext cx="15755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Peraturan Pemerintah: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428672" y="3663791"/>
            <a:ext cx="24669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 55/2022 (PPh Final) • PP 58/2023 (TER)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428672" y="3816191"/>
            <a:ext cx="15572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 35/2023 (Pajak Daerah)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427720" y="4017645"/>
            <a:ext cx="781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PMK Kritis: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428672" y="4178141"/>
            <a:ext cx="28284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PMK 70/2022 — Jasa Boga Non-PPN ← PALING KRITIS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428672" y="4330541"/>
            <a:ext cx="14909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PMK 168/2023 — PPh 21 TER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8428672" y="4482941"/>
            <a:ext cx="13162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PMK 81/2024 — Coretax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428672" y="4635341"/>
            <a:ext cx="18885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PMK 172/2023 — Transfer Pricing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428672" y="4787741"/>
            <a:ext cx="1990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+ Perda Lokal per Kota/Kabupaten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190500" y="5162550"/>
            <a:ext cx="11811000" cy="342900"/>
          </a:xfrm>
          <a:prstGeom prst="roundRect">
            <a:avLst>
              <a:gd name="adj" fmla="val 11111"/>
            </a:avLst>
          </a:prstGeom>
          <a:solidFill>
            <a:srgbClr val="1B3A6B">
              <a:alpha val="7000"/>
            </a:srgbClr>
          </a:solidFill>
          <a:ln w="9525">
            <a:solidFill>
              <a:srgbClr val="1B3A6B">
                <a:alpha val="20000"/>
              </a:srgbClr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69570" y="5284470"/>
            <a:ext cx="14444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Lifecycle Pajak SPPG: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464945" y="5284470"/>
            <a:ext cx="87245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Pre-Operasional (BPHTB, BPJS, NPWP) → Operasional Harian (PPh 21/23/4(2), PBJT, Air Tanah) → Pelaporan Tahunan (PPh 25/29, SPT 1771)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41157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MAP PER AKTIVITAS BISNIS SPPG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87205" y="304324"/>
            <a:ext cx="31361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Dari Pre-Operasional hingga Laporan Tahunan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" y="742950"/>
            <a:ext cx="11811000" cy="34290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61434" y="856774"/>
            <a:ext cx="1153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Aktivitas Bisnis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1425" y="856774"/>
            <a:ext cx="1303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Pajak yang Muncul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11219" y="856774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Tarif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51749" y="856774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Pelaporan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15022" y="85677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Fase</a:t>
            </a:r>
          </a:p>
        </p:txBody>
      </p:sp>
      <p:sp>
        <p:nvSpPr>
          <p:cNvPr id="13" name="Line 13"/>
          <p:cNvSpPr/>
          <p:nvPr/>
        </p:nvSpPr>
        <p:spPr>
          <a:xfrm>
            <a:off x="2476500" y="742950"/>
            <a:ext cx="9525" cy="5429250"/>
          </a:xfrm>
          <a:custGeom>
            <a:avLst/>
            <a:gdLst/>
            <a:ahLst/>
            <a:cxnLst/>
            <a:rect l="l" t="t" r="r" b="b"/>
            <a:pathLst>
              <a:path w="9525" h="5429250">
                <a:moveTo>
                  <a:pt x="0" y="0"/>
                </a:moveTo>
                <a:lnTo>
                  <a:pt x="0" y="542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4" name="Line 14"/>
          <p:cNvSpPr/>
          <p:nvPr/>
        </p:nvSpPr>
        <p:spPr>
          <a:xfrm>
            <a:off x="7239000" y="742950"/>
            <a:ext cx="9525" cy="5429250"/>
          </a:xfrm>
          <a:custGeom>
            <a:avLst/>
            <a:gdLst/>
            <a:ahLst/>
            <a:cxnLst/>
            <a:rect l="l" t="t" r="r" b="b"/>
            <a:pathLst>
              <a:path w="9525" h="5429250">
                <a:moveTo>
                  <a:pt x="0" y="0"/>
                </a:moveTo>
                <a:lnTo>
                  <a:pt x="0" y="542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5" name="Line 15"/>
          <p:cNvSpPr/>
          <p:nvPr/>
        </p:nvSpPr>
        <p:spPr>
          <a:xfrm>
            <a:off x="8382000" y="742950"/>
            <a:ext cx="9525" cy="5429250"/>
          </a:xfrm>
          <a:custGeom>
            <a:avLst/>
            <a:gdLst/>
            <a:ahLst/>
            <a:cxnLst/>
            <a:rect l="l" t="t" r="r" b="b"/>
            <a:pathLst>
              <a:path w="9525" h="5429250">
                <a:moveTo>
                  <a:pt x="0" y="0"/>
                </a:moveTo>
                <a:lnTo>
                  <a:pt x="0" y="542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6" name="Line 16"/>
          <p:cNvSpPr/>
          <p:nvPr/>
        </p:nvSpPr>
        <p:spPr>
          <a:xfrm>
            <a:off x="10763250" y="742950"/>
            <a:ext cx="9525" cy="5429250"/>
          </a:xfrm>
          <a:custGeom>
            <a:avLst/>
            <a:gdLst/>
            <a:ahLst/>
            <a:cxnLst/>
            <a:rect l="l" t="t" r="r" b="b"/>
            <a:pathLst>
              <a:path w="9525" h="5429250">
                <a:moveTo>
                  <a:pt x="0" y="0"/>
                </a:moveTo>
                <a:lnTo>
                  <a:pt x="0" y="542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" y="1085850"/>
            <a:ext cx="11811000" cy="3810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90500" y="1085850"/>
            <a:ext cx="38100" cy="38100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55270" y="1160145"/>
            <a:ext cx="1368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Akuisisi tanah dapur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7175" y="1328738"/>
            <a:ext cx="11089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Saat pembelian lahan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60320" y="12172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BPHTB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08581" y="1217295"/>
            <a:ext cx="14513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5% × (NPOP–NPOPTKP)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25961" y="1225391"/>
            <a:ext cx="10933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Sekali, ke Bapenda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46903" y="1225391"/>
            <a:ext cx="508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Pre-Ops</a:t>
            </a:r>
          </a:p>
        </p:txBody>
      </p:sp>
      <p:sp>
        <p:nvSpPr>
          <p:cNvPr id="25" name="Line 25"/>
          <p:cNvSpPr/>
          <p:nvPr/>
        </p:nvSpPr>
        <p:spPr>
          <a:xfrm>
            <a:off x="190500" y="1466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190500" y="1466850"/>
            <a:ext cx="1181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190500" y="1466850"/>
            <a:ext cx="38100" cy="38100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55270" y="154114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Konstruksi bangunan dapur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7175" y="1709738"/>
            <a:ext cx="1076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Kontrak kontraktor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60320" y="1598295"/>
            <a:ext cx="1593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4(2) jasa konstruksi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9596" y="1598295"/>
            <a:ext cx="4093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 – 6%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45263" y="1606391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46903" y="1606391"/>
            <a:ext cx="508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Pre-Ops</a:t>
            </a:r>
          </a:p>
        </p:txBody>
      </p:sp>
      <p:sp>
        <p:nvSpPr>
          <p:cNvPr id="34" name="Line 34"/>
          <p:cNvSpPr/>
          <p:nvPr/>
        </p:nvSpPr>
        <p:spPr>
          <a:xfrm>
            <a:off x="190500" y="1847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190500" y="1847850"/>
            <a:ext cx="11811000" cy="3810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190500" y="1847850"/>
            <a:ext cx="38100" cy="3810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55270" y="1922145"/>
            <a:ext cx="1955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Pembayaran gaji 47 karyawan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7175" y="2090738"/>
            <a:ext cx="1547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 setiap tanggal gajian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60320" y="1979295"/>
            <a:ext cx="16593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21 (TER PMK 168/2023)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91641" y="1979295"/>
            <a:ext cx="4852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 – 34%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998851" y="1987391"/>
            <a:ext cx="1147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 (SPT Masa)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44485" y="198739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43" name="Line 43"/>
          <p:cNvSpPr/>
          <p:nvPr/>
        </p:nvSpPr>
        <p:spPr>
          <a:xfrm>
            <a:off x="190500" y="2228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190500" y="2228850"/>
            <a:ext cx="1181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190500" y="2228850"/>
            <a:ext cx="38100" cy="3810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55270" y="230314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Sewa lahan (jika sewa)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57175" y="2471738"/>
            <a:ext cx="10213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Asumsi Rp 25 jt/bln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0320" y="2360295"/>
            <a:ext cx="23100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4(2) Final sewa tanah/bangunan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50236" y="2360295"/>
            <a:ext cx="5680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10% Final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45263" y="2368391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44485" y="236839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52" name="Line 52"/>
          <p:cNvSpPr/>
          <p:nvPr/>
        </p:nvSpPr>
        <p:spPr>
          <a:xfrm>
            <a:off x="190500" y="2609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190500" y="2609850"/>
            <a:ext cx="11811000" cy="38100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190500" y="2609850"/>
            <a:ext cx="38100" cy="3810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255270" y="2684145"/>
            <a:ext cx="1962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Penerimaan dari BGN/Yayasan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57175" y="2852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Tiap pencairan MBG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60320" y="2684145"/>
            <a:ext cx="16307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PPh 23 dipotong Yayasan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562225" y="2852738"/>
            <a:ext cx="202906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 14,085 M × 2% = Rp 281,7 juta/tahun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036434" y="2684145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2% bruto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010900" y="2692241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Bukti potong/bulan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644485" y="269224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62" name="Line 62"/>
          <p:cNvSpPr/>
          <p:nvPr/>
        </p:nvSpPr>
        <p:spPr>
          <a:xfrm>
            <a:off x="190500" y="2990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190500" y="2990850"/>
            <a:ext cx="11811000" cy="38100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190500" y="2990850"/>
            <a:ext cx="38100" cy="38100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255270" y="3065145"/>
            <a:ext cx="22104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Penjualan jasa katering (output)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57175" y="3233738"/>
            <a:ext cx="1771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Pembayaran dari Yayasan ke SPPG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560320" y="3065145"/>
            <a:ext cx="22518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PPN: tidak ada / PBJT: cek Perda!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922570" y="3065145"/>
            <a:ext cx="8233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0% / Max 10%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161514" y="30732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SPTPD Bulanan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644485" y="307324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71" name="Line 71"/>
          <p:cNvSpPr/>
          <p:nvPr/>
        </p:nvSpPr>
        <p:spPr>
          <a:xfrm>
            <a:off x="190500" y="3371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53030">
                <a:alpha val="30000"/>
              </a:srgbClr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190500" y="3371850"/>
            <a:ext cx="11811000" cy="3810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190500" y="3371850"/>
            <a:ext cx="38100" cy="3810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255270" y="3446145"/>
            <a:ext cx="1775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Sewa kendaraan distribusi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560320" y="3446145"/>
            <a:ext cx="20536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23 (SPPG sebagai pemotong)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246911" y="344614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345263" y="3454241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644485" y="345424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79" name="Line 79"/>
          <p:cNvSpPr/>
          <p:nvPr/>
        </p:nvSpPr>
        <p:spPr>
          <a:xfrm>
            <a:off x="190500" y="3752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0" name="Rectangle 80"/>
          <p:cNvSpPr/>
          <p:nvPr/>
        </p:nvSpPr>
        <p:spPr>
          <a:xfrm>
            <a:off x="190500" y="3752850"/>
            <a:ext cx="1181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1" name="Rectangle 81"/>
          <p:cNvSpPr/>
          <p:nvPr/>
        </p:nvSpPr>
        <p:spPr>
          <a:xfrm>
            <a:off x="190500" y="3752850"/>
            <a:ext cx="38100" cy="3810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255270" y="3827145"/>
            <a:ext cx="16997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Konsumsi air tanah dapur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560320" y="3827145"/>
            <a:ext cx="1521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Pajak Air Tanah (Perda)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098542" y="3827145"/>
            <a:ext cx="4714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Per m³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028974" y="383524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 (Bapenda)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644485" y="383524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87" name="Line 87"/>
          <p:cNvSpPr/>
          <p:nvPr/>
        </p:nvSpPr>
        <p:spPr>
          <a:xfrm>
            <a:off x="190500" y="4133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8" name="Rectangle 88"/>
          <p:cNvSpPr/>
          <p:nvPr/>
        </p:nvSpPr>
        <p:spPr>
          <a:xfrm>
            <a:off x="190500" y="4133850"/>
            <a:ext cx="11811000" cy="3810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89" name="Rectangle 89"/>
          <p:cNvSpPr/>
          <p:nvPr/>
        </p:nvSpPr>
        <p:spPr>
          <a:xfrm>
            <a:off x="190500" y="4133850"/>
            <a:ext cx="38100" cy="3810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255270" y="4208145"/>
            <a:ext cx="17342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Penandatanganan kontrak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560320" y="4208145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Bea Meterai (UU 10/2020)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863913" y="4208145"/>
            <a:ext cx="9406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10.000/dok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161514" y="42162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Per transaksi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644485" y="421624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Operasional</a:t>
            </a:r>
          </a:p>
        </p:txBody>
      </p:sp>
      <p:sp>
        <p:nvSpPr>
          <p:cNvPr id="95" name="Line 95"/>
          <p:cNvSpPr/>
          <p:nvPr/>
        </p:nvSpPr>
        <p:spPr>
          <a:xfrm>
            <a:off x="190500" y="4514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96" name="Rectangle 96"/>
          <p:cNvSpPr/>
          <p:nvPr/>
        </p:nvSpPr>
        <p:spPr>
          <a:xfrm>
            <a:off x="190500" y="4514850"/>
            <a:ext cx="11811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7" name="Rectangle 97"/>
          <p:cNvSpPr/>
          <p:nvPr/>
        </p:nvSpPr>
        <p:spPr>
          <a:xfrm>
            <a:off x="190500" y="4514850"/>
            <a:ext cx="38100" cy="381000"/>
          </a:xfrm>
          <a:prstGeom prst="rect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255270" y="4589145"/>
            <a:ext cx="19413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Laba akhir tahun operasional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57175" y="4757738"/>
            <a:ext cx="1349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Berdasarkan SPT Tahunan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560320" y="4646295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Badan Pasal 25 &amp; 29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208956" y="4646295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044035" y="4654391"/>
            <a:ext cx="10571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Bulanan &amp; Tahunan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758952" y="465439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Tahunan</a:t>
            </a:r>
          </a:p>
        </p:txBody>
      </p:sp>
      <p:sp>
        <p:nvSpPr>
          <p:cNvPr id="104" name="Line 104"/>
          <p:cNvSpPr/>
          <p:nvPr/>
        </p:nvSpPr>
        <p:spPr>
          <a:xfrm>
            <a:off x="190500" y="48958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5" name="Rectangle 105"/>
          <p:cNvSpPr/>
          <p:nvPr/>
        </p:nvSpPr>
        <p:spPr>
          <a:xfrm>
            <a:off x="190500" y="4895850"/>
            <a:ext cx="11811000" cy="3810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06" name="Rectangle 106"/>
          <p:cNvSpPr/>
          <p:nvPr/>
        </p:nvSpPr>
        <p:spPr>
          <a:xfrm>
            <a:off x="190500" y="4895850"/>
            <a:ext cx="38100" cy="381000"/>
          </a:xfrm>
          <a:prstGeom prst="rect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255270" y="4970145"/>
            <a:ext cx="2465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Kepemilikan aset (tanah + bangunan)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560320" y="497014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PBB-P2 Tahunan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750048" y="4970145"/>
            <a:ext cx="11684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0,1 – 0,3% × NJOP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977765" y="4978241"/>
            <a:ext cx="11897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Sesuai SPPT Bapenda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758952" y="497824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Tahunan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190500" y="742950"/>
            <a:ext cx="11811000" cy="4724400"/>
          </a:xfrm>
          <a:prstGeom prst="roundRect">
            <a:avLst>
              <a:gd name="adj" fmla="val 806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113" name="Rectangle 113"/>
          <p:cNvSpPr/>
          <p:nvPr/>
        </p:nvSpPr>
        <p:spPr>
          <a:xfrm>
            <a:off x="190500" y="5667375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14" name="TextBox 114"/>
          <p:cNvSpPr txBox="1"/>
          <p:nvPr/>
        </p:nvSpPr>
        <p:spPr>
          <a:xfrm>
            <a:off x="370522" y="5692616"/>
            <a:ext cx="978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Pre-Operasional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1571625" y="5667375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1751648" y="5692616"/>
            <a:ext cx="11836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Operasional Bulanan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3238500" y="5667375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3418522" y="5692616"/>
            <a:ext cx="19849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Prepayment (Kredit Pajak)</a:t>
            </a:r>
          </a:p>
        </p:txBody>
      </p:sp>
      <p:sp>
        <p:nvSpPr>
          <p:cNvPr id="119" name="Rectangle 119"/>
          <p:cNvSpPr/>
          <p:nvPr/>
        </p:nvSpPr>
        <p:spPr>
          <a:xfrm>
            <a:off x="5572125" y="5667375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20" name="TextBox 120"/>
          <p:cNvSpPr txBox="1"/>
          <p:nvPr/>
        </p:nvSpPr>
        <p:spPr>
          <a:xfrm>
            <a:off x="5752148" y="5692616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Tahunan / SPT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6762750" y="5667375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2" name="TextBox 122"/>
          <p:cNvSpPr txBox="1"/>
          <p:nvPr/>
        </p:nvSpPr>
        <p:spPr>
          <a:xfrm>
            <a:off x="6942772" y="56926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PBJT — GRAY AREA</a:t>
            </a:r>
          </a:p>
        </p:txBody>
      </p:sp>
      <p:sp>
        <p:nvSpPr>
          <p:cNvPr id="123" name="Rectangle 123"/>
          <p:cNvSpPr/>
          <p:nvPr/>
        </p:nvSpPr>
        <p:spPr>
          <a:xfrm>
            <a:off x="190500" y="5953125"/>
            <a:ext cx="11811000" cy="38100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24" name="TextBox 124"/>
          <p:cNvSpPr txBox="1"/>
          <p:nvPr/>
        </p:nvSpPr>
        <p:spPr>
          <a:xfrm>
            <a:off x="369570" y="6027420"/>
            <a:ext cx="5611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INSIGHT: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036320" y="6027420"/>
            <a:ext cx="6719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23 Rp 281,7 juta/tahun dicatat sebagai "Pajak Dibayar di Muka" di balance sheet — BUKAN beban di P&amp;L.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036320" y="6179820"/>
            <a:ext cx="75415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Pada SPT Tahunan dikreditkan vs PPh Badan. Jika lebih bayar → restitusi (12–24 bln) atau kompensasi masa berikutnya.</a:t>
            </a:r>
          </a:p>
        </p:txBody>
      </p:sp>
      <p:sp>
        <p:nvSpPr>
          <p:cNvPr id="127" name="Rectangle 127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28" name="TextBox 128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43181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BADAN – CORPORATE INCOME TAX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67510" y="304324"/>
            <a:ext cx="14558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Tarif 22% | Base Case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" y="742950"/>
            <a:ext cx="5715000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94172" y="839152"/>
            <a:ext cx="27076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Perhitungan PPh Badan – Base Case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1066800"/>
            <a:ext cx="5715000" cy="4095750"/>
          </a:xfrm>
          <a:prstGeom prst="roundRect">
            <a:avLst>
              <a:gd name="adj" fmla="val 930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85750" y="1162050"/>
            <a:ext cx="5524500" cy="304800"/>
          </a:xfrm>
          <a:prstGeom prst="roundRect">
            <a:avLst>
              <a:gd name="adj" fmla="val 9375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87668" y="1247299"/>
            <a:ext cx="25890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Laba Akuntansi sebelum Pajak (EBT)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93453" y="1247299"/>
            <a:ext cx="1138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578.000.000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620" y="1541145"/>
            <a:ext cx="23898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C5282"/>
                </a:solidFill>
                <a:latin typeface="Inter"/>
                <a:ea typeface="Microsoft YaHei"/>
                <a:cs typeface="Inter"/>
              </a:rPr>
              <a:t>KOREKSI FISKAL (+) Non-Deductible: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2445" y="175069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Sumbangan non-PMK 76/2011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61916" y="1750695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+ Rp 8.000.000</a:t>
            </a:r>
          </a:p>
        </p:txBody>
      </p:sp>
      <p:sp>
        <p:nvSpPr>
          <p:cNvPr id="16" name="Line 16"/>
          <p:cNvSpPr/>
          <p:nvPr/>
        </p:nvSpPr>
        <p:spPr>
          <a:xfrm>
            <a:off x="400050" y="190500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2445" y="1960245"/>
            <a:ext cx="791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Sanksi pajak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61916" y="1960245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+ Rp 3.000.000</a:t>
            </a:r>
          </a:p>
        </p:txBody>
      </p:sp>
      <p:sp>
        <p:nvSpPr>
          <p:cNvPr id="19" name="Line 19"/>
          <p:cNvSpPr/>
          <p:nvPr/>
        </p:nvSpPr>
        <p:spPr>
          <a:xfrm>
            <a:off x="400050" y="211455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12445" y="2169795"/>
            <a:ext cx="20865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Natura non-objek (PMK 66/2023)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22482" y="216979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+ Rp 15.000.000</a:t>
            </a:r>
          </a:p>
        </p:txBody>
      </p:sp>
      <p:sp>
        <p:nvSpPr>
          <p:cNvPr id="22" name="Line 22"/>
          <p:cNvSpPr/>
          <p:nvPr/>
        </p:nvSpPr>
        <p:spPr>
          <a:xfrm>
            <a:off x="400050" y="232410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12445" y="2379345"/>
            <a:ext cx="1665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Cadangan piutang berlebih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61916" y="2379345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+ Rp 5.000.000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8620" y="2607945"/>
            <a:ext cx="20724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KOREKSI FISKAL (–) Non-Objek: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445" y="2760345"/>
            <a:ext cx="17053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Bunga deposito (PPh Final)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61916" y="2760345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– Rp 2.000.000</a:t>
            </a:r>
          </a:p>
        </p:txBody>
      </p:sp>
      <p:sp>
        <p:nvSpPr>
          <p:cNvPr id="28" name="Line 28"/>
          <p:cNvSpPr/>
          <p:nvPr/>
        </p:nvSpPr>
        <p:spPr>
          <a:xfrm>
            <a:off x="400050" y="295275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14288">
            <a:solidFill>
              <a:srgbClr val="2C528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85750" y="3009900"/>
            <a:ext cx="5524500" cy="304800"/>
          </a:xfrm>
          <a:prstGeom prst="roundRect">
            <a:avLst>
              <a:gd name="adj" fmla="val 937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87668" y="3095149"/>
            <a:ext cx="21030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Penghasilan Kena Pajak (PKP)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93453" y="3095149"/>
            <a:ext cx="1138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607.000.000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8620" y="3427095"/>
            <a:ext cx="20273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Badan Terutang (22% × PKP)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14596" y="342709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Rp 133.540.000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8620" y="3674745"/>
            <a:ext cx="19205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KREDIT PAJAK (Prepayment):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2445" y="3865245"/>
            <a:ext cx="15541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dipotong Yayasan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50188" y="3865245"/>
            <a:ext cx="10809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– Rp 281.700.000</a:t>
            </a:r>
          </a:p>
        </p:txBody>
      </p:sp>
      <p:sp>
        <p:nvSpPr>
          <p:cNvPr id="37" name="Line 37"/>
          <p:cNvSpPr/>
          <p:nvPr/>
        </p:nvSpPr>
        <p:spPr>
          <a:xfrm>
            <a:off x="400050" y="401955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12445" y="4074795"/>
            <a:ext cx="15541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25 angsuran bulanan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88205" y="40747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– Rp 11.130.000</a:t>
            </a:r>
          </a:p>
        </p:txBody>
      </p:sp>
      <p:sp>
        <p:nvSpPr>
          <p:cNvPr id="40" name="Line 40"/>
          <p:cNvSpPr/>
          <p:nvPr/>
        </p:nvSpPr>
        <p:spPr>
          <a:xfrm>
            <a:off x="400050" y="428625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14288">
            <a:solidFill>
              <a:srgbClr val="2C5282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285750" y="4343400"/>
            <a:ext cx="5524500" cy="704850"/>
          </a:xfrm>
          <a:prstGeom prst="roundRect">
            <a:avLst>
              <a:gd name="adj" fmla="val 4054"/>
            </a:avLst>
          </a:prstGeom>
          <a:solidFill>
            <a:srgbClr val="E6FFF0"/>
          </a:solidFill>
          <a:ln w="14288">
            <a:solidFill>
              <a:srgbClr val="27674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87668" y="4447699"/>
            <a:ext cx="18563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PPh Pasal 29: LEBIH BAYAR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69948" y="4439602"/>
            <a:ext cx="1363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(Rp 159.290.000)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572" y="4673441"/>
            <a:ext cx="28585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dipotong (Rp 281,7 jt) + PPh 25 (Rp 11,1 jt)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9572" y="4844891"/>
            <a:ext cx="3720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melebihi PPh Badan terutang (Rp 133,5 jt) → lebih bayar Rp 159 jt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143625" y="742950"/>
            <a:ext cx="5857875" cy="323850"/>
          </a:xfrm>
          <a:prstGeom prst="roundRect">
            <a:avLst>
              <a:gd name="adj" fmla="val 11765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637488" y="839152"/>
            <a:ext cx="28606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INSIGHT KRITIS – DUAL ETR &amp; CASH TRAP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143625" y="1162050"/>
            <a:ext cx="2809875" cy="104775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914578" y="1331595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Statutory Tax Rate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05270" y="1517332"/>
            <a:ext cx="8770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036296" y="2025491"/>
            <a:ext cx="10150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Badan Normal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191625" y="1162050"/>
            <a:ext cx="2809875" cy="1047750"/>
          </a:xfrm>
          <a:prstGeom prst="roundRect">
            <a:avLst>
              <a:gd name="adj" fmla="val 5455"/>
            </a:avLst>
          </a:prstGeom>
          <a:solidFill>
            <a:srgbClr val="1B3A6B"/>
          </a:solidFill>
          <a:ln w="9525">
            <a:solidFill>
              <a:srgbClr val="1B3A6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07622" y="1331595"/>
            <a:ext cx="5683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Cash ETR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87587" y="1517332"/>
            <a:ext cx="140842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52,2%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35466" y="2025491"/>
            <a:ext cx="19126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Karena PPh 23 prepayment besar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143625" y="2343150"/>
            <a:ext cx="5857875" cy="685800"/>
          </a:xfrm>
          <a:prstGeom prst="roundRect">
            <a:avLst>
              <a:gd name="adj" fmla="val 6944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6143625" y="2343150"/>
            <a:ext cx="47625" cy="68580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275070" y="2455545"/>
            <a:ext cx="1209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Cash Trap PPh 23: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227570" y="2455545"/>
            <a:ext cx="28357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Rp 281,7 jt dihitung atas omzet bruto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275070" y="2626995"/>
            <a:ext cx="35718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sedangkan PPh Badan hanya Rp 133,5 jt atas laba bersih.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275070" y="2798445"/>
            <a:ext cx="50046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Mitra SPPG mengalami cash trap Rp 159 jt yang menunggu restitusi 12–24 bulan.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143625" y="3143250"/>
            <a:ext cx="5857875" cy="523875"/>
          </a:xfrm>
          <a:prstGeom prst="roundRect">
            <a:avLst>
              <a:gd name="adj" fmla="val 9091"/>
            </a:avLst>
          </a:prstGeom>
          <a:solidFill>
            <a:srgbClr val="FFFBEB"/>
          </a:solidFill>
          <a:ln w="9525">
            <a:solidFill>
              <a:srgbClr val="D4A017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275070" y="3255645"/>
            <a:ext cx="2507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REKOMENDASI WORKING CAPITAL PAJAK: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275070" y="3427095"/>
            <a:ext cx="51689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Siapkan cadangan likuiditas pajak setara Rp 200–300 juta untuk menutup cash gap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75070" y="3579495"/>
            <a:ext cx="375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lebih bayar selama menunggu kompensasi/restitusi.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143625" y="3790950"/>
            <a:ext cx="5857875" cy="1047750"/>
          </a:xfrm>
          <a:prstGeom prst="roundRect">
            <a:avLst>
              <a:gd name="adj" fmla="val 4545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593872" y="3914299"/>
            <a:ext cx="29478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Mengapa Tidak Bisa PPh Final UMKM 0,5%?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286500" y="4114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427470" y="4112895"/>
            <a:ext cx="40187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Omzet SPPG ~Rp 14,08 miliar &gt; batas Rp 4,8 miliar (PP 55/2022)</a:t>
            </a:r>
          </a:p>
        </p:txBody>
      </p:sp>
      <p:sp>
        <p:nvSpPr>
          <p:cNvPr id="70" name="Rectangle 70"/>
          <p:cNvSpPr/>
          <p:nvPr/>
        </p:nvSpPr>
        <p:spPr>
          <a:xfrm>
            <a:off x="6286500" y="43053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427470" y="4303395"/>
            <a:ext cx="39793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SPPG wajib PPh Badan normal 22% + pembukuan lengkap (akrual)</a:t>
            </a:r>
          </a:p>
        </p:txBody>
      </p:sp>
      <p:sp>
        <p:nvSpPr>
          <p:cNvPr id="72" name="Rectangle 72"/>
          <p:cNvSpPr/>
          <p:nvPr/>
        </p:nvSpPr>
        <p:spPr>
          <a:xfrm>
            <a:off x="6286500" y="4495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6427470" y="4493895"/>
            <a:ext cx="32695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Wajib SPT Tahunan PPh Badan 1771 + lampiran L01–L05</a:t>
            </a:r>
          </a:p>
        </p:txBody>
      </p:sp>
      <p:sp>
        <p:nvSpPr>
          <p:cNvPr id="74" name="Rectangle 74"/>
          <p:cNvSpPr/>
          <p:nvPr/>
        </p:nvSpPr>
        <p:spPr>
          <a:xfrm>
            <a:off x="6286500" y="46863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6427470" y="4684395"/>
            <a:ext cx="40319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Angsuran PPh 25 bulanan: 1/12 × PPh terutang tahun sebelumnya</a:t>
            </a:r>
          </a:p>
        </p:txBody>
      </p:sp>
      <p:sp>
        <p:nvSpPr>
          <p:cNvPr id="76" name="Rectangle 76"/>
          <p:cNvSpPr/>
          <p:nvPr/>
        </p:nvSpPr>
        <p:spPr>
          <a:xfrm>
            <a:off x="6143625" y="4972050"/>
            <a:ext cx="2809875" cy="895350"/>
          </a:xfrm>
          <a:prstGeom prst="roundRect">
            <a:avLst>
              <a:gd name="adj" fmla="val 5319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6821581" y="5093970"/>
            <a:ext cx="14444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Kompensasi (Pilih Ini)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276022" y="528304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Otomatis kurangi PPh masa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276022" y="5435441"/>
            <a:ext cx="1780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berikutnya tanpa pemeriksaan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276022" y="5587841"/>
            <a:ext cx="1494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Cash kembali lebih cepat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276975" y="5710238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Pasal 31 UU KUP</a:t>
            </a:r>
          </a:p>
        </p:txBody>
      </p:sp>
      <p:sp>
        <p:nvSpPr>
          <p:cNvPr id="82" name="Rectangle 82"/>
          <p:cNvSpPr/>
          <p:nvPr/>
        </p:nvSpPr>
        <p:spPr>
          <a:xfrm>
            <a:off x="9191625" y="4972050"/>
            <a:ext cx="2809875" cy="895350"/>
          </a:xfrm>
          <a:prstGeom prst="roundRect">
            <a:avLst>
              <a:gd name="adj" fmla="val 5319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9945491" y="5093970"/>
            <a:ext cx="12926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Restitusi (Hindari)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324022" y="5283041"/>
            <a:ext cx="10933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Proses 12–24 bulan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324022" y="5435441"/>
            <a:ext cx="10812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+ pemeriksaan DJP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324022" y="5587841"/>
            <a:ext cx="16593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Cash tertahan sangat lama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324975" y="5710238"/>
            <a:ext cx="8460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Pasal 17B UU KUP</a:t>
            </a:r>
          </a:p>
        </p:txBody>
      </p:sp>
      <p:sp>
        <p:nvSpPr>
          <p:cNvPr id="88" name="Rectangle 88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56465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PASAL 21 &amp; PPh PASAL 23 – WITHHOLDING TAX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23828" y="304324"/>
            <a:ext cx="1199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TER PMK 168/2023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" y="742950"/>
            <a:ext cx="5772150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91181" y="839152"/>
            <a:ext cx="2570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Pasal 21 – TER (47 Karyawan)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1066800"/>
            <a:ext cx="5772150" cy="28575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54684" y="1150620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Kategori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60859" y="1150620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PTKP Karyawan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7096" y="1150620"/>
            <a:ext cx="1209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Range TER Bulanan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9889" y="1150620"/>
            <a:ext cx="5197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Jenjang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90500" y="1352550"/>
            <a:ext cx="5772150" cy="2857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3219" y="1428274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TER 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9400" y="1444466"/>
            <a:ext cx="2165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TK/0 (Rp54jt), TK/1 &amp; K/0 (Rp58,5jt)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91436" y="1436370"/>
            <a:ext cx="5611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0% – 34%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23106" y="1444466"/>
            <a:ext cx="5932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44 jenjang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" y="1638300"/>
            <a:ext cx="5772150" cy="9525"/>
          </a:xfrm>
          <a:custGeom>
            <a:avLst/>
            <a:gdLst/>
            <a:ahLst/>
            <a:cxnLst/>
            <a:rect l="l" t="t" r="r" b="b"/>
            <a:pathLst>
              <a:path w="5772150" h="9525">
                <a:moveTo>
                  <a:pt x="0" y="0"/>
                </a:moveTo>
                <a:lnTo>
                  <a:pt x="57721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90500" y="1638300"/>
            <a:ext cx="577215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53219" y="1714024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TER 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0713" y="1730216"/>
            <a:ext cx="25030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TK/2 &amp; K/1 (Rp63jt), TK/3 &amp; K/2 (Rp67,5jt)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91436" y="1722120"/>
            <a:ext cx="5611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0% – 34%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23106" y="1730216"/>
            <a:ext cx="5932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40 jenjang</a:t>
            </a:r>
          </a:p>
        </p:txBody>
      </p:sp>
      <p:sp>
        <p:nvSpPr>
          <p:cNvPr id="25" name="Line 25"/>
          <p:cNvSpPr/>
          <p:nvPr/>
        </p:nvSpPr>
        <p:spPr>
          <a:xfrm>
            <a:off x="190500" y="1924050"/>
            <a:ext cx="5772150" cy="9525"/>
          </a:xfrm>
          <a:custGeom>
            <a:avLst/>
            <a:gdLst/>
            <a:ahLst/>
            <a:cxnLst/>
            <a:rect l="l" t="t" r="r" b="b"/>
            <a:pathLst>
              <a:path w="5772150" h="9525">
                <a:moveTo>
                  <a:pt x="0" y="0"/>
                </a:moveTo>
                <a:lnTo>
                  <a:pt x="57721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190500" y="1924050"/>
            <a:ext cx="5772150" cy="2857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3219" y="1999774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TER 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84274" y="2015966"/>
            <a:ext cx="7559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K/3 (Rp70jt)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91436" y="2007870"/>
            <a:ext cx="5611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0% – 34%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38167" y="2015966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41 jenjang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90500" y="1066800"/>
            <a:ext cx="5772150" cy="1143000"/>
          </a:xfrm>
          <a:prstGeom prst="roundRect">
            <a:avLst>
              <a:gd name="adj" fmla="val 2500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9070" y="2303145"/>
            <a:ext cx="2175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Estimasi PPh 21 per Posisi Kunci: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90500" y="2476500"/>
            <a:ext cx="5772150" cy="266700"/>
          </a:xfrm>
          <a:prstGeom prst="roundRect">
            <a:avLst>
              <a:gd name="adj" fmla="val 7143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74400" y="2558891"/>
            <a:ext cx="3751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Posisi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58881" y="2558891"/>
            <a:ext cx="482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Gaji/bln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19271" y="2558891"/>
            <a:ext cx="438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Status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067021" y="2558891"/>
            <a:ext cx="438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TER(%)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18297" y="2558891"/>
            <a:ext cx="6219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21/bln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90500" y="2743200"/>
            <a:ext cx="577215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17159" y="2806541"/>
            <a:ext cx="6896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Kepala SPPG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89139" y="28065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12.000.000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43679" y="280654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K/1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152420" y="2806541"/>
            <a:ext cx="267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1,5%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17544" y="28065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180.000</a:t>
            </a:r>
          </a:p>
        </p:txBody>
      </p:sp>
      <p:sp>
        <p:nvSpPr>
          <p:cNvPr id="45" name="Line 45"/>
          <p:cNvSpPr/>
          <p:nvPr/>
        </p:nvSpPr>
        <p:spPr>
          <a:xfrm>
            <a:off x="190500" y="2990850"/>
            <a:ext cx="5772150" cy="9525"/>
          </a:xfrm>
          <a:custGeom>
            <a:avLst/>
            <a:gdLst/>
            <a:ahLst/>
            <a:cxnLst/>
            <a:rect l="l" t="t" r="r" b="b"/>
            <a:pathLst>
              <a:path w="5772150" h="9525">
                <a:moveTo>
                  <a:pt x="0" y="0"/>
                </a:moveTo>
                <a:lnTo>
                  <a:pt x="57721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190500" y="2990850"/>
            <a:ext cx="57721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19577" y="305419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Akuntan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07213" y="3054191"/>
            <a:ext cx="7860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8.000.000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28617" y="30541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K/0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52420" y="3054191"/>
            <a:ext cx="267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1,0%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35618" y="305419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80.000</a:t>
            </a:r>
          </a:p>
        </p:txBody>
      </p:sp>
      <p:sp>
        <p:nvSpPr>
          <p:cNvPr id="52" name="Line 52"/>
          <p:cNvSpPr/>
          <p:nvPr/>
        </p:nvSpPr>
        <p:spPr>
          <a:xfrm>
            <a:off x="190500" y="3238500"/>
            <a:ext cx="5772150" cy="9525"/>
          </a:xfrm>
          <a:custGeom>
            <a:avLst/>
            <a:gdLst/>
            <a:ahLst/>
            <a:cxnLst/>
            <a:rect l="l" t="t" r="r" b="b"/>
            <a:pathLst>
              <a:path w="5772150" h="9525">
                <a:moveTo>
                  <a:pt x="0" y="0"/>
                </a:moveTo>
                <a:lnTo>
                  <a:pt x="57721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190500" y="3238500"/>
            <a:ext cx="577215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28614" y="3301841"/>
            <a:ext cx="4667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Ahli Gizi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07213" y="3301841"/>
            <a:ext cx="7860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8.000.000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095482" y="33018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TK/0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152420" y="3301841"/>
            <a:ext cx="267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1,0%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35618" y="330184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80.000</a:t>
            </a:r>
          </a:p>
        </p:txBody>
      </p:sp>
      <p:sp>
        <p:nvSpPr>
          <p:cNvPr id="59" name="Line 59"/>
          <p:cNvSpPr/>
          <p:nvPr/>
        </p:nvSpPr>
        <p:spPr>
          <a:xfrm>
            <a:off x="190500" y="3486150"/>
            <a:ext cx="5772150" cy="9525"/>
          </a:xfrm>
          <a:custGeom>
            <a:avLst/>
            <a:gdLst/>
            <a:ahLst/>
            <a:cxnLst/>
            <a:rect l="l" t="t" r="r" b="b"/>
            <a:pathLst>
              <a:path w="5772150" h="9525">
                <a:moveTo>
                  <a:pt x="0" y="0"/>
                </a:moveTo>
                <a:lnTo>
                  <a:pt x="57721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190500" y="3486150"/>
            <a:ext cx="57721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384024" y="3549491"/>
            <a:ext cx="7559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Kepala Dapur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07213" y="3549491"/>
            <a:ext cx="7860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7.000.000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143679" y="354949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K/1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43232" y="354949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0,5%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135618" y="354949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35.000</a:t>
            </a:r>
          </a:p>
        </p:txBody>
      </p:sp>
      <p:sp>
        <p:nvSpPr>
          <p:cNvPr id="66" name="Line 66"/>
          <p:cNvSpPr/>
          <p:nvPr/>
        </p:nvSpPr>
        <p:spPr>
          <a:xfrm>
            <a:off x="190500" y="3733800"/>
            <a:ext cx="5772150" cy="9525"/>
          </a:xfrm>
          <a:custGeom>
            <a:avLst/>
            <a:gdLst/>
            <a:ahLst/>
            <a:cxnLst/>
            <a:rect l="l" t="t" r="r" b="b"/>
            <a:pathLst>
              <a:path w="5772150" h="9525">
                <a:moveTo>
                  <a:pt x="0" y="0"/>
                </a:moveTo>
                <a:lnTo>
                  <a:pt x="57721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190500" y="3733800"/>
            <a:ext cx="577215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254496" y="3797141"/>
            <a:ext cx="10150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39 Karyawan Lain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604201" y="379714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Rp 3–5,5 juta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944868" y="379714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TK/0, K/0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209502" y="37971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0%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301294" y="37971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Rp 0</a:t>
            </a:r>
          </a:p>
        </p:txBody>
      </p:sp>
      <p:sp>
        <p:nvSpPr>
          <p:cNvPr id="73" name="Rectangle 73"/>
          <p:cNvSpPr/>
          <p:nvPr/>
        </p:nvSpPr>
        <p:spPr>
          <a:xfrm>
            <a:off x="190500" y="3981450"/>
            <a:ext cx="5772150" cy="266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283414" y="4063841"/>
            <a:ext cx="9571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TOTAL (47 org)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862301" y="4055745"/>
            <a:ext cx="1133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~Rp 5,8 juta/thn</a:t>
            </a:r>
          </a:p>
        </p:txBody>
      </p:sp>
      <p:sp>
        <p:nvSpPr>
          <p:cNvPr id="76" name="Rectangle 76"/>
          <p:cNvSpPr/>
          <p:nvPr/>
        </p:nvSpPr>
        <p:spPr>
          <a:xfrm>
            <a:off x="190500" y="2476500"/>
            <a:ext cx="5772150" cy="1771650"/>
          </a:xfrm>
          <a:prstGeom prst="roundRect">
            <a:avLst>
              <a:gd name="adj" fmla="val 1075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190500" y="4381500"/>
            <a:ext cx="5772150" cy="5715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 w="9525">
            <a:solidFill>
              <a:srgbClr val="D4A017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321945" y="4465320"/>
            <a:ext cx="27072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Strategi Gross-Up (untuk posisi kunci):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22898" y="4644866"/>
            <a:ext cx="51779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Gross-up gaji Kepala SPPG, Akuntan, Ahli Gizi → deductible naik → tax saving ~22% × selisih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22898" y="4797266"/>
            <a:ext cx="35633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THP karyawan utuh (tidak terpotong) → retention lebih baik.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90500" y="5067300"/>
            <a:ext cx="5772150" cy="495300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321945" y="5151120"/>
            <a:ext cx="2244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Rekonsiliasi Desember (Pasal 17):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22898" y="5330666"/>
            <a:ext cx="49791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Jan–Nov: potong pakai TER bulanan | Desember: rekonsiliasi ke tarif progresif aktual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22898" y="5444966"/>
            <a:ext cx="45333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NIK = NPWP (sejak 2024). Bukti potong via e-Bupot Coretax (PER-11/PJ/2025).</a:t>
            </a:r>
          </a:p>
        </p:txBody>
      </p:sp>
      <p:sp>
        <p:nvSpPr>
          <p:cNvPr id="85" name="Rectangle 85"/>
          <p:cNvSpPr/>
          <p:nvPr/>
        </p:nvSpPr>
        <p:spPr>
          <a:xfrm>
            <a:off x="6191250" y="742950"/>
            <a:ext cx="5810250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7589578" y="839152"/>
            <a:ext cx="30135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Pasal 23 – Withholding Jasa &amp; Sewa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191250" y="1066800"/>
            <a:ext cx="5810250" cy="266700"/>
          </a:xfrm>
          <a:prstGeom prst="roundRect">
            <a:avLst>
              <a:gd name="adj" fmla="val 7143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70752" y="1149191"/>
            <a:ext cx="545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Skenario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176149" y="114919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SPPG Sebagai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308753" y="1149191"/>
            <a:ext cx="3372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Tarif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618039" y="1149191"/>
            <a:ext cx="9571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Estimasi/Tahun</a:t>
            </a:r>
          </a:p>
        </p:txBody>
      </p:sp>
      <p:sp>
        <p:nvSpPr>
          <p:cNvPr id="92" name="Rectangle 92"/>
          <p:cNvSpPr/>
          <p:nvPr/>
        </p:nvSpPr>
        <p:spPr>
          <a:xfrm>
            <a:off x="6191250" y="1333500"/>
            <a:ext cx="5810250" cy="28575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6323648" y="1415891"/>
            <a:ext cx="21970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Yayasan bayar SPPG (jasa katering)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287905" y="1415891"/>
            <a:ext cx="569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DIPOTONG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390036" y="1407795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588333" y="140779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281.700.000</a:t>
            </a:r>
          </a:p>
        </p:txBody>
      </p:sp>
      <p:sp>
        <p:nvSpPr>
          <p:cNvPr id="97" name="Line 97"/>
          <p:cNvSpPr/>
          <p:nvPr/>
        </p:nvSpPr>
        <p:spPr>
          <a:xfrm>
            <a:off x="6191250" y="161925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98" name="Rectangle 98"/>
          <p:cNvSpPr/>
          <p:nvPr/>
        </p:nvSpPr>
        <p:spPr>
          <a:xfrm>
            <a:off x="6191250" y="1619250"/>
            <a:ext cx="581025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6323648" y="1692116"/>
            <a:ext cx="23163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SPPG bayar sewa kendaraan operasional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84893" y="1692116"/>
            <a:ext cx="575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Pemotong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9400627" y="16921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769858" y="16921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480.000</a:t>
            </a:r>
          </a:p>
        </p:txBody>
      </p:sp>
      <p:sp>
        <p:nvSpPr>
          <p:cNvPr id="103" name="Line 103"/>
          <p:cNvSpPr/>
          <p:nvPr/>
        </p:nvSpPr>
        <p:spPr>
          <a:xfrm>
            <a:off x="6191250" y="188595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4" name="Rectangle 104"/>
          <p:cNvSpPr/>
          <p:nvPr/>
        </p:nvSpPr>
        <p:spPr>
          <a:xfrm>
            <a:off x="6191250" y="1885950"/>
            <a:ext cx="5810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6323648" y="1958816"/>
            <a:ext cx="24850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SPPG bayar konsultan akunting (WP Badan)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284893" y="1958816"/>
            <a:ext cx="575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Pemotong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400627" y="19588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769858" y="19588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240.000</a:t>
            </a:r>
          </a:p>
        </p:txBody>
      </p:sp>
      <p:sp>
        <p:nvSpPr>
          <p:cNvPr id="109" name="Line 109"/>
          <p:cNvSpPr/>
          <p:nvPr/>
        </p:nvSpPr>
        <p:spPr>
          <a:xfrm>
            <a:off x="6191250" y="215265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10" name="Rectangle 110"/>
          <p:cNvSpPr/>
          <p:nvPr/>
        </p:nvSpPr>
        <p:spPr>
          <a:xfrm>
            <a:off x="6191250" y="2152650"/>
            <a:ext cx="581025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11" name="TextBox 111"/>
          <p:cNvSpPr txBox="1"/>
          <p:nvPr/>
        </p:nvSpPr>
        <p:spPr>
          <a:xfrm>
            <a:off x="6323648" y="2225516"/>
            <a:ext cx="1822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SPPG bayar konsultan halal/ISO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284893" y="2225516"/>
            <a:ext cx="575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Pemotong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400627" y="22255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769858" y="22255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300.000</a:t>
            </a:r>
          </a:p>
        </p:txBody>
      </p:sp>
      <p:sp>
        <p:nvSpPr>
          <p:cNvPr id="115" name="Line 115"/>
          <p:cNvSpPr/>
          <p:nvPr/>
        </p:nvSpPr>
        <p:spPr>
          <a:xfrm>
            <a:off x="6191250" y="241935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16" name="Rectangle 116"/>
          <p:cNvSpPr/>
          <p:nvPr/>
        </p:nvSpPr>
        <p:spPr>
          <a:xfrm>
            <a:off x="6191250" y="2419350"/>
            <a:ext cx="58102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7" name="TextBox 117"/>
          <p:cNvSpPr txBox="1"/>
          <p:nvPr/>
        </p:nvSpPr>
        <p:spPr>
          <a:xfrm>
            <a:off x="6323648" y="2492216"/>
            <a:ext cx="24488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SPPG bayar maintenance peralatan vendor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284893" y="2492216"/>
            <a:ext cx="575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Pemotong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400627" y="24922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2%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0769858" y="24922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700.000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6191250" y="1066800"/>
            <a:ext cx="5810250" cy="1619250"/>
          </a:xfrm>
          <a:prstGeom prst="roundRect">
            <a:avLst>
              <a:gd name="adj" fmla="val 1176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122" name="Line 122"/>
          <p:cNvSpPr/>
          <p:nvPr/>
        </p:nvSpPr>
        <p:spPr>
          <a:xfrm>
            <a:off x="8153400" y="10668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23" name="Line 123"/>
          <p:cNvSpPr/>
          <p:nvPr/>
        </p:nvSpPr>
        <p:spPr>
          <a:xfrm>
            <a:off x="9029700" y="10668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24" name="Line 124"/>
          <p:cNvSpPr/>
          <p:nvPr/>
        </p:nvSpPr>
        <p:spPr>
          <a:xfrm>
            <a:off x="10267950" y="10668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25" name="Rectangle 125"/>
          <p:cNvSpPr/>
          <p:nvPr/>
        </p:nvSpPr>
        <p:spPr>
          <a:xfrm>
            <a:off x="6191250" y="2809875"/>
            <a:ext cx="5810250" cy="495300"/>
          </a:xfrm>
          <a:prstGeom prst="roundRect">
            <a:avLst>
              <a:gd name="adj" fmla="val 7692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126" name="TextBox 126"/>
          <p:cNvSpPr txBox="1"/>
          <p:nvPr/>
        </p:nvSpPr>
        <p:spPr>
          <a:xfrm>
            <a:off x="6322695" y="2912745"/>
            <a:ext cx="15065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Aturan NPWP Supplier: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322695" y="3084195"/>
            <a:ext cx="47745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Supplier BER-NPWP → tarif 2% | Supplier TIDAK ber-NPWP → tarif 4% (double!)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6324600" y="3138488"/>
            <a:ext cx="4614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Saving: validasi NPWP semua supplier → hemat ~Rp 12 juta/tahun (selisih 2% × total DPP)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6191250" y="3429000"/>
            <a:ext cx="5810250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130" name="TextBox 130"/>
          <p:cNvSpPr txBox="1"/>
          <p:nvPr/>
        </p:nvSpPr>
        <p:spPr>
          <a:xfrm>
            <a:off x="7420597" y="3533299"/>
            <a:ext cx="335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Alur Withholding – PPh 23 dari Yayasan ke SPPG</a:t>
            </a:r>
          </a:p>
        </p:txBody>
      </p:sp>
      <p:sp>
        <p:nvSpPr>
          <p:cNvPr id="131" name="Rectangle 131"/>
          <p:cNvSpPr/>
          <p:nvPr/>
        </p:nvSpPr>
        <p:spPr>
          <a:xfrm>
            <a:off x="6286500" y="3867150"/>
            <a:ext cx="1047750" cy="47625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32" name="TextBox 132"/>
          <p:cNvSpPr txBox="1"/>
          <p:nvPr/>
        </p:nvSpPr>
        <p:spPr>
          <a:xfrm>
            <a:off x="6521563" y="3987641"/>
            <a:ext cx="5776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APBN/BGN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562606" y="4167188"/>
            <a:ext cx="4955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Dana MBG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391400" y="39528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0"/>
                </a:solidFill>
                <a:latin typeface="Inter"/>
                <a:ea typeface="Microsoft YaHei"/>
                <a:cs typeface="Inter"/>
              </a:rPr>
              <a:t>→</a:t>
            </a:r>
          </a:p>
        </p:txBody>
      </p:sp>
      <p:sp>
        <p:nvSpPr>
          <p:cNvPr id="135" name="Rectangle 135"/>
          <p:cNvSpPr/>
          <p:nvPr/>
        </p:nvSpPr>
        <p:spPr>
          <a:xfrm>
            <a:off x="7620000" y="3867150"/>
            <a:ext cx="1238250" cy="476250"/>
          </a:xfrm>
          <a:prstGeom prst="roundRect">
            <a:avLst>
              <a:gd name="adj" fmla="val 100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136" name="TextBox 136"/>
          <p:cNvSpPr txBox="1"/>
          <p:nvPr/>
        </p:nvSpPr>
        <p:spPr>
          <a:xfrm>
            <a:off x="7795331" y="3987641"/>
            <a:ext cx="8875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Yayasan Mitra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7758589" y="4167188"/>
            <a:ext cx="9610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Potong PPh 23: 2%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8905875" y="39528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0"/>
                </a:solidFill>
                <a:latin typeface="Inter"/>
                <a:ea typeface="Microsoft YaHei"/>
                <a:cs typeface="Inter"/>
              </a:rPr>
              <a:t>→</a:t>
            </a:r>
          </a:p>
        </p:txBody>
      </p:sp>
      <p:sp>
        <p:nvSpPr>
          <p:cNvPr id="139" name="Rectangle 139"/>
          <p:cNvSpPr/>
          <p:nvPr/>
        </p:nvSpPr>
        <p:spPr>
          <a:xfrm>
            <a:off x="9144000" y="3867150"/>
            <a:ext cx="1238250" cy="47625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9423706" y="3987641"/>
            <a:ext cx="6788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SPPG Mitra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9375696" y="4167188"/>
            <a:ext cx="7748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Net: Rp 13,8 M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0429875" y="39528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0"/>
                </a:solidFill>
                <a:latin typeface="Inter"/>
                <a:ea typeface="Microsoft YaHei"/>
                <a:cs typeface="Inter"/>
              </a:rPr>
              <a:t>→</a:t>
            </a:r>
          </a:p>
        </p:txBody>
      </p:sp>
      <p:sp>
        <p:nvSpPr>
          <p:cNvPr id="143" name="Rectangle 143"/>
          <p:cNvSpPr/>
          <p:nvPr/>
        </p:nvSpPr>
        <p:spPr>
          <a:xfrm>
            <a:off x="10668000" y="3867150"/>
            <a:ext cx="1238250" cy="476250"/>
          </a:xfrm>
          <a:prstGeom prst="roundRect">
            <a:avLst>
              <a:gd name="adj" fmla="val 10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44" name="TextBox 144"/>
          <p:cNvSpPr txBox="1"/>
          <p:nvPr/>
        </p:nvSpPr>
        <p:spPr>
          <a:xfrm>
            <a:off x="10995150" y="3987641"/>
            <a:ext cx="5839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DJP / SPT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0957203" y="4167188"/>
            <a:ext cx="6598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Kredit pajak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529745" y="4414838"/>
            <a:ext cx="5612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~Rp 14,5 M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785973" y="4414838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setor Rp 281,7 jt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9419511" y="4414838"/>
            <a:ext cx="6872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bukti potong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987326" y="4414838"/>
            <a:ext cx="5995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lebih bayar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6191250" y="4667250"/>
            <a:ext cx="5810250" cy="438150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6322695" y="4760595"/>
            <a:ext cx="2106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Sistem Coretax (PMK 81/2024):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6323648" y="4940141"/>
            <a:ext cx="61057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Yayasan terbit e-Bupot 23 via Coretax | SPPG cross-check bukti potong bulanan | Real-time matching DJP</a:t>
            </a:r>
          </a:p>
        </p:txBody>
      </p:sp>
      <p:sp>
        <p:nvSpPr>
          <p:cNvPr id="153" name="Rectangle 153"/>
          <p:cNvSpPr/>
          <p:nvPr/>
        </p:nvSpPr>
        <p:spPr>
          <a:xfrm>
            <a:off x="6191250" y="5219700"/>
            <a:ext cx="5810250" cy="104775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154" name="TextBox 154"/>
          <p:cNvSpPr txBox="1"/>
          <p:nvPr/>
        </p:nvSpPr>
        <p:spPr>
          <a:xfrm>
            <a:off x="7872891" y="5323999"/>
            <a:ext cx="24469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PPh 23 vs PPh Badan – Gap Analisis</a:t>
            </a:r>
          </a:p>
        </p:txBody>
      </p:sp>
      <p:sp>
        <p:nvSpPr>
          <p:cNvPr id="155" name="Rectangle 155"/>
          <p:cNvSpPr/>
          <p:nvPr/>
        </p:nvSpPr>
        <p:spPr>
          <a:xfrm>
            <a:off x="6572250" y="5543550"/>
            <a:ext cx="1905000" cy="476250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56" name="TextBox 156"/>
          <p:cNvSpPr txBox="1"/>
          <p:nvPr/>
        </p:nvSpPr>
        <p:spPr>
          <a:xfrm>
            <a:off x="7321336" y="5673566"/>
            <a:ext cx="4068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23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143762" y="5835491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281,7 juta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8572500" y="5762625"/>
            <a:ext cx="1143000" cy="257175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59" name="TextBox 159"/>
          <p:cNvSpPr txBox="1"/>
          <p:nvPr/>
        </p:nvSpPr>
        <p:spPr>
          <a:xfrm>
            <a:off x="8836210" y="5835491"/>
            <a:ext cx="6155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Badan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8797647" y="5986462"/>
            <a:ext cx="6927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Rp 133,5 juta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10085070" y="5665470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GAP: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10083165" y="5820728"/>
            <a:ext cx="662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Rp 148 jt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0086975" y="602456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Lebih bayar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65" name="TextBox 165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5039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PPN vs PBJT – AREA PALING KRITIS &amp; AMBIGU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7663" y="304324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RED FLAG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118" y="790099"/>
            <a:ext cx="94088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Jasa boga/katering SPPG memenuhi 3 kriteria PMK 70/PMK.03/2022 → DIKECUALIKAN dari PPN, namun potensial menjadi OBJEK PBJT Daerah.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" y="1009650"/>
            <a:ext cx="11811000" cy="323850"/>
          </a:xfrm>
          <a:prstGeom prst="roundRect">
            <a:avLst>
              <a:gd name="adj" fmla="val 11765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89880" y="1113949"/>
            <a:ext cx="14302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Aspek Perbandingan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40687" y="1113949"/>
            <a:ext cx="1310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A8D8A0"/>
                </a:solidFill>
                <a:latin typeface="Inter"/>
                <a:ea typeface="Microsoft YaHei"/>
                <a:cs typeface="Inter"/>
              </a:rPr>
              <a:t>PPN (Pajak Pusat)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63702" y="1113949"/>
            <a:ext cx="14750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PBJT (Pajak Daerah)</a:t>
            </a:r>
          </a:p>
        </p:txBody>
      </p:sp>
      <p:sp>
        <p:nvSpPr>
          <p:cNvPr id="12" name="Line 12"/>
          <p:cNvSpPr/>
          <p:nvPr/>
        </p:nvSpPr>
        <p:spPr>
          <a:xfrm>
            <a:off x="3810000" y="1009650"/>
            <a:ext cx="9525" cy="2800350"/>
          </a:xfrm>
          <a:custGeom>
            <a:avLst/>
            <a:gdLst/>
            <a:ahLst/>
            <a:cxnLst/>
            <a:rect l="l" t="t" r="r" b="b"/>
            <a:pathLst>
              <a:path w="9525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8001000" y="1009650"/>
            <a:ext cx="9525" cy="2800350"/>
          </a:xfrm>
          <a:custGeom>
            <a:avLst/>
            <a:gdLst/>
            <a:ahLst/>
            <a:cxnLst/>
            <a:rect l="l" t="t" r="r" b="b"/>
            <a:pathLst>
              <a:path w="9525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90500" y="1333500"/>
            <a:ext cx="11811000" cy="3429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74320" y="14554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Dasar Hukum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27854" y="1455420"/>
            <a:ext cx="23362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UU 7/2021 HPP &amp; PMK 70/PMK.03/2022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12425" y="1455420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UU 1/2022 HKPD &amp; PP 35/2023</a:t>
            </a:r>
          </a:p>
        </p:txBody>
      </p:sp>
      <p:sp>
        <p:nvSpPr>
          <p:cNvPr id="18" name="Line 18"/>
          <p:cNvSpPr/>
          <p:nvPr/>
        </p:nvSpPr>
        <p:spPr>
          <a:xfrm>
            <a:off x="190500" y="16764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190500" y="1676400"/>
            <a:ext cx="118110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74320" y="1798320"/>
            <a:ext cx="12995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Otoritas Pemungut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25475" y="1798320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DJP (Pemerintah Pusat)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7893" y="1798320"/>
            <a:ext cx="11467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Bapenda Kab/Kota</a:t>
            </a:r>
          </a:p>
        </p:txBody>
      </p:sp>
      <p:sp>
        <p:nvSpPr>
          <p:cNvPr id="23" name="Line 23"/>
          <p:cNvSpPr/>
          <p:nvPr/>
        </p:nvSpPr>
        <p:spPr>
          <a:xfrm>
            <a:off x="190500" y="20193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190500" y="2019300"/>
            <a:ext cx="11811000" cy="3429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74320" y="21412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Tarif 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58336" y="2141220"/>
            <a:ext cx="14753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12% (tapi SPPG exempt)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30725" y="2141220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Maksimal 10% per Perda</a:t>
            </a:r>
          </a:p>
        </p:txBody>
      </p:sp>
      <p:sp>
        <p:nvSpPr>
          <p:cNvPr id="28" name="Line 28"/>
          <p:cNvSpPr/>
          <p:nvPr/>
        </p:nvSpPr>
        <p:spPr>
          <a:xfrm>
            <a:off x="190500" y="23622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190500" y="2362200"/>
            <a:ext cx="118110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74320" y="2484120"/>
            <a:ext cx="8233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Status SPPG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952875" y="2381250"/>
            <a:ext cx="3895725" cy="304800"/>
          </a:xfrm>
          <a:prstGeom prst="rect">
            <a:avLst/>
          </a:prstGeom>
          <a:solidFill>
            <a:srgbClr val="E6FFF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564040" y="2476024"/>
            <a:ext cx="10639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DIKECUALIKAN 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058150" y="2381250"/>
            <a:ext cx="3886200" cy="30480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267440" y="2476024"/>
            <a:ext cx="1467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OBJEK (potensial) ⚠</a:t>
            </a:r>
          </a:p>
        </p:txBody>
      </p:sp>
      <p:sp>
        <p:nvSpPr>
          <p:cNvPr id="35" name="Line 35"/>
          <p:cNvSpPr/>
          <p:nvPr/>
        </p:nvSpPr>
        <p:spPr>
          <a:xfrm>
            <a:off x="190500" y="27051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190500" y="2705100"/>
            <a:ext cx="11811000" cy="3429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74320" y="28270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PPN Masukan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53689" y="2827020"/>
            <a:ext cx="26846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Tidak dapat dikreditkan (output non-PPN)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69196" y="2827020"/>
            <a:ext cx="864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Tidak relevan</a:t>
            </a:r>
          </a:p>
        </p:txBody>
      </p:sp>
      <p:sp>
        <p:nvSpPr>
          <p:cNvPr id="40" name="Line 40"/>
          <p:cNvSpPr/>
          <p:nvPr/>
        </p:nvSpPr>
        <p:spPr>
          <a:xfrm>
            <a:off x="190500" y="30480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190500" y="3048000"/>
            <a:ext cx="118110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74320" y="3169920"/>
            <a:ext cx="9613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Dokumen Wajib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09554" y="3169920"/>
            <a:ext cx="2572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e-Faktur 4.0 (tidak wajib bagi non-PKP)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11971" y="3169920"/>
            <a:ext cx="2178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Bukti Pungut PBJT + SPTPD Bulanan</a:t>
            </a:r>
          </a:p>
        </p:txBody>
      </p:sp>
      <p:sp>
        <p:nvSpPr>
          <p:cNvPr id="45" name="Line 45"/>
          <p:cNvSpPr/>
          <p:nvPr/>
        </p:nvSpPr>
        <p:spPr>
          <a:xfrm>
            <a:off x="190500" y="33909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190500" y="3390900"/>
            <a:ext cx="11811000" cy="3429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74320" y="3512820"/>
            <a:ext cx="1672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Kemungkinan Exempt MBG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48024" y="3512820"/>
            <a:ext cx="18959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N/A (sudah exempt otomatis)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65104" y="3512820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GRAY AREA — cek Perda lokal!</a:t>
            </a:r>
          </a:p>
        </p:txBody>
      </p:sp>
      <p:sp>
        <p:nvSpPr>
          <p:cNvPr id="50" name="Rectangle 50"/>
          <p:cNvSpPr/>
          <p:nvPr/>
        </p:nvSpPr>
        <p:spPr>
          <a:xfrm>
            <a:off x="190500" y="1009650"/>
            <a:ext cx="11811000" cy="2724150"/>
          </a:xfrm>
          <a:prstGeom prst="roundRect">
            <a:avLst>
              <a:gd name="adj" fmla="val 1399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51" name="Line 51"/>
          <p:cNvSpPr/>
          <p:nvPr/>
        </p:nvSpPr>
        <p:spPr>
          <a:xfrm>
            <a:off x="3810000" y="1333500"/>
            <a:ext cx="9525" cy="2400300"/>
          </a:xfrm>
          <a:custGeom>
            <a:avLst/>
            <a:gdLst/>
            <a:ahLst/>
            <a:cxnLst/>
            <a:rect l="l" t="t" r="r" b="b"/>
            <a:pathLst>
              <a:path w="9525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2" name="Line 52"/>
          <p:cNvSpPr/>
          <p:nvPr/>
        </p:nvSpPr>
        <p:spPr>
          <a:xfrm>
            <a:off x="8001000" y="1333500"/>
            <a:ext cx="9525" cy="2400300"/>
          </a:xfrm>
          <a:custGeom>
            <a:avLst/>
            <a:gdLst/>
            <a:ahLst/>
            <a:cxnLst/>
            <a:rect l="l" t="t" r="r" b="b"/>
            <a:pathLst>
              <a:path w="9525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190500" y="3829050"/>
            <a:ext cx="5695950" cy="1238250"/>
          </a:xfrm>
          <a:prstGeom prst="roundRect">
            <a:avLst>
              <a:gd name="adj" fmla="val 3846"/>
            </a:avLst>
          </a:prstGeom>
          <a:solidFill>
            <a:srgbClr val="E6FFF0"/>
          </a:solidFill>
          <a:ln w="14288">
            <a:solidFill>
              <a:srgbClr val="276749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1385125" y="3933349"/>
            <a:ext cx="33067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3 Kriteria PMK 70/PMK.03/2022 (PPN Exempt)</a:t>
            </a:r>
          </a:p>
        </p:txBody>
      </p:sp>
      <p:sp>
        <p:nvSpPr>
          <p:cNvPr id="55" name="Rectangle 55"/>
          <p:cNvSpPr/>
          <p:nvPr/>
        </p:nvSpPr>
        <p:spPr>
          <a:xfrm>
            <a:off x="333375" y="4114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74345" y="4112895"/>
            <a:ext cx="42816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(1) Penyediaan bahan + pembuatan + penyajian berdasarkan pesanan</a:t>
            </a:r>
          </a:p>
        </p:txBody>
      </p:sp>
      <p:sp>
        <p:nvSpPr>
          <p:cNvPr id="57" name="Rectangle 57"/>
          <p:cNvSpPr/>
          <p:nvPr/>
        </p:nvSpPr>
        <p:spPr>
          <a:xfrm>
            <a:off x="333375" y="43053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474345" y="4303395"/>
            <a:ext cx="43736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(2) Penyajian di lokasi pemesan (berbeda dari lokasi produksi dapur)</a:t>
            </a:r>
          </a:p>
        </p:txBody>
      </p:sp>
      <p:sp>
        <p:nvSpPr>
          <p:cNvPr id="59" name="Rectangle 59"/>
          <p:cNvSpPr/>
          <p:nvPr/>
        </p:nvSpPr>
        <p:spPr>
          <a:xfrm>
            <a:off x="333375" y="4495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474345" y="4493895"/>
            <a:ext cx="33681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(3) Dengan atau tanpa peralatan/petugas pendukung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05405" y="4874895"/>
            <a:ext cx="30661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SPPG memenuhi KETIGA kriteria → PPN EXEMPT ✓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115050" y="3829050"/>
            <a:ext cx="5886450" cy="1238250"/>
          </a:xfrm>
          <a:prstGeom prst="roundRect">
            <a:avLst>
              <a:gd name="adj" fmla="val 3846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6115050" y="38290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614251" y="3933349"/>
            <a:ext cx="2888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PBJT – TAX RISK MATERIAL (Rp 1,4 Miliar)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56020" y="4150995"/>
            <a:ext cx="3085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Beberapa Perda memberikan exempt PBJT untuk: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267450" y="43053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390322" y="4311491"/>
            <a:ext cx="31416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Penyerahan makanan untuk bantuan sosial pemerintah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267450" y="44577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390322" y="4463891"/>
            <a:ext cx="2756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Panti sosial, lembaga pendidikan, rumah ibadah</a:t>
            </a:r>
          </a:p>
        </p:txBody>
      </p:sp>
      <p:sp>
        <p:nvSpPr>
          <p:cNvPr id="70" name="Rectangle 70"/>
          <p:cNvSpPr/>
          <p:nvPr/>
        </p:nvSpPr>
        <p:spPr>
          <a:xfrm>
            <a:off x="6267450" y="46101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390322" y="4616291"/>
            <a:ext cx="3858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Omzet di bawah threshold Perda (umumnya Rp 100–500 juta/bulan)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38632" y="4855845"/>
            <a:ext cx="4239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MBG kemungkinan masuk exempt — tapi fact-specific per Perda!</a:t>
            </a:r>
          </a:p>
        </p:txBody>
      </p:sp>
      <p:sp>
        <p:nvSpPr>
          <p:cNvPr id="73" name="Rectangle 73"/>
          <p:cNvSpPr/>
          <p:nvPr/>
        </p:nvSpPr>
        <p:spPr>
          <a:xfrm>
            <a:off x="190500" y="5191125"/>
            <a:ext cx="11811000" cy="1066800"/>
          </a:xfrm>
          <a:prstGeom prst="roundRect">
            <a:avLst>
              <a:gd name="adj" fmla="val 5357"/>
            </a:avLst>
          </a:prstGeom>
          <a:solidFill>
            <a:srgbClr val="C53030">
              <a:alpha val="5000"/>
            </a:srgbClr>
          </a:solidFill>
          <a:ln w="19050">
            <a:solidFill>
              <a:srgbClr val="C53030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190500" y="5191125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329565" y="5334952"/>
            <a:ext cx="4881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CONDITIO SINE QUA NON – 3 Langkah Wajib Sebelum Operasional: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42900" y="5543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482918" y="5533549"/>
            <a:ext cx="1518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1.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35318" y="5533549"/>
            <a:ext cx="6532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Ajukan permohonan tax ruling tertulis ke Bapenda lokal: "apakah SPPG MBG wajib pungut PBJT?"</a:t>
            </a:r>
          </a:p>
        </p:txBody>
      </p:sp>
      <p:sp>
        <p:nvSpPr>
          <p:cNvPr id="79" name="Rectangle 79"/>
          <p:cNvSpPr/>
          <p:nvPr/>
        </p:nvSpPr>
        <p:spPr>
          <a:xfrm>
            <a:off x="342900" y="57340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482918" y="57240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2.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35318" y="5724049"/>
            <a:ext cx="5450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Analisis Perda PBJT setempat bersama konsultan pajak daerah yang paham HKPD</a:t>
            </a:r>
          </a:p>
        </p:txBody>
      </p:sp>
      <p:sp>
        <p:nvSpPr>
          <p:cNvPr id="82" name="Rectangle 82"/>
          <p:cNvSpPr/>
          <p:nvPr/>
        </p:nvSpPr>
        <p:spPr>
          <a:xfrm>
            <a:off x="342900" y="5924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482918" y="59145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3.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5318" y="5914549"/>
            <a:ext cx="66605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Jika PBJT applicable: negosiasi klausul harga dalam kontrak MBG untuk pass-through PBJT ke BGN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31470" y="6094095"/>
            <a:ext cx="5653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RISIKO: Rp 14 M × 10% = Rp 1,4 miliar PBJT/tahun — melampaui seluruh laba bersih SPPG!</a:t>
            </a:r>
          </a:p>
        </p:txBody>
      </p:sp>
      <p:sp>
        <p:nvSpPr>
          <p:cNvPr id="86" name="Rectangle 86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617404" y="668178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56718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MANAGEMENT – PEMILIHAN STRUKTUR ENTITAS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47113" y="304324"/>
            <a:ext cx="17762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Komparasi Tax Treatment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118" y="771049"/>
            <a:ext cx="9330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Pemilihan struktur entitas SPPG memiliki konsekuensi pajak yang berbeda signifikan pada tarif efektif, distribusi laba, dan tax shield.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" y="990600"/>
            <a:ext cx="11811000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37432" y="1102995"/>
            <a:ext cx="6301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Struktur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1729" y="1102995"/>
            <a:ext cx="6715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PPh Badan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59236" y="1102995"/>
            <a:ext cx="1368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Distribusi ke Pemilik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87232" y="1102995"/>
            <a:ext cx="6370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Total 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24137" y="1102995"/>
            <a:ext cx="5542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Catatan</a:t>
            </a:r>
          </a:p>
        </p:txBody>
      </p:sp>
      <p:sp>
        <p:nvSpPr>
          <p:cNvPr id="14" name="Line 14"/>
          <p:cNvSpPr/>
          <p:nvPr/>
        </p:nvSpPr>
        <p:spPr>
          <a:xfrm>
            <a:off x="1905000" y="990600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0" y="0"/>
                </a:moveTo>
                <a:lnTo>
                  <a:pt x="0" y="25717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810000" y="990600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0" y="0"/>
                </a:moveTo>
                <a:lnTo>
                  <a:pt x="0" y="25717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6477000" y="990600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0" y="0"/>
                </a:moveTo>
                <a:lnTo>
                  <a:pt x="0" y="25717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9334500" y="990600"/>
            <a:ext cx="9525" cy="2571750"/>
          </a:xfrm>
          <a:custGeom>
            <a:avLst/>
            <a:gdLst/>
            <a:ahLst/>
            <a:cxnLst/>
            <a:rect l="l" t="t" r="r" b="b"/>
            <a:pathLst>
              <a:path w="9525" h="2571750">
                <a:moveTo>
                  <a:pt x="0" y="0"/>
                </a:moveTo>
                <a:lnTo>
                  <a:pt x="0" y="25717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90500" y="1314450"/>
            <a:ext cx="118110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57882" y="14377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21765" y="143779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96432" y="144589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Dividen: 10% Final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7779" y="1437799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29,8%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7825" y="145399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Standar, paling fleksibel</a:t>
            </a:r>
          </a:p>
        </p:txBody>
      </p:sp>
      <p:sp>
        <p:nvSpPr>
          <p:cNvPr id="24" name="Line 24"/>
          <p:cNvSpPr/>
          <p:nvPr/>
        </p:nvSpPr>
        <p:spPr>
          <a:xfrm>
            <a:off x="190500" y="16764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190500" y="1676400"/>
            <a:ext cx="11811000" cy="361950"/>
          </a:xfrm>
          <a:prstGeom prst="rect">
            <a:avLst/>
          </a:prstGeom>
          <a:solidFill>
            <a:srgbClr val="FFFBEB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90500" y="1676400"/>
            <a:ext cx="38100" cy="36195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25203" y="1799749"/>
            <a:ext cx="854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PT (UU HPP)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21765" y="179974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65949" y="1807845"/>
            <a:ext cx="1955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Dividen exempt jika reinvested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70015" y="179974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56371" y="1815941"/>
            <a:ext cx="16897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Reinvest 3 thn (PMK 18/2021)</a:t>
            </a:r>
          </a:p>
        </p:txBody>
      </p:sp>
      <p:sp>
        <p:nvSpPr>
          <p:cNvPr id="32" name="Line 32"/>
          <p:cNvSpPr/>
          <p:nvPr/>
        </p:nvSpPr>
        <p:spPr>
          <a:xfrm>
            <a:off x="190500" y="20383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190500" y="2038350"/>
            <a:ext cx="118110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57882" y="21616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CV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21765" y="216169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83287" y="2169795"/>
            <a:ext cx="11204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Bukan objek pajak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70015" y="216169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73255" y="2177891"/>
            <a:ext cx="12559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Mirip PT, lebih simple</a:t>
            </a:r>
          </a:p>
        </p:txBody>
      </p:sp>
      <p:sp>
        <p:nvSpPr>
          <p:cNvPr id="39" name="Line 39"/>
          <p:cNvSpPr/>
          <p:nvPr/>
        </p:nvSpPr>
        <p:spPr>
          <a:xfrm>
            <a:off x="190500" y="24003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190500" y="2400300"/>
            <a:ext cx="118110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29866" y="2523649"/>
            <a:ext cx="645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Koperasi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21765" y="252364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22%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35412" y="2531745"/>
            <a:ext cx="14161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SHU anggota: 10% Final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87779" y="2523649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29,8%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74483" y="25398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 25/2009</a:t>
            </a:r>
          </a:p>
        </p:txBody>
      </p:sp>
      <p:sp>
        <p:nvSpPr>
          <p:cNvPr id="46" name="Line 46"/>
          <p:cNvSpPr/>
          <p:nvPr/>
        </p:nvSpPr>
        <p:spPr>
          <a:xfrm>
            <a:off x="190500" y="27622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190500" y="2762250"/>
            <a:ext cx="11811000" cy="3619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8460" y="2885599"/>
            <a:ext cx="548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BUMDes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74134" y="288559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22% / exempt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67310" y="2893695"/>
            <a:ext cx="7523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SHU ke desa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87779" y="2885599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0–22%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76267" y="2901791"/>
            <a:ext cx="12499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Tergantung struktur</a:t>
            </a:r>
          </a:p>
        </p:txBody>
      </p:sp>
      <p:sp>
        <p:nvSpPr>
          <p:cNvPr id="53" name="Line 53"/>
          <p:cNvSpPr/>
          <p:nvPr/>
        </p:nvSpPr>
        <p:spPr>
          <a:xfrm>
            <a:off x="190500" y="312420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190500" y="3124200"/>
            <a:ext cx="11811000" cy="361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52294" y="3247549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Yayasan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176021" y="3247549"/>
            <a:ext cx="1362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22% atas sisa lebih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07706" y="3255645"/>
            <a:ext cx="12715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Tidak ada distribusi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687779" y="3247549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0–22%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939486" y="3263741"/>
            <a:ext cx="21235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Sisa lebih exempt reinvest (KMK 117)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90500" y="990600"/>
            <a:ext cx="11811000" cy="2495550"/>
          </a:xfrm>
          <a:prstGeom prst="roundRect">
            <a:avLst>
              <a:gd name="adj" fmla="val 1527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61" name="Line 61"/>
          <p:cNvSpPr/>
          <p:nvPr/>
        </p:nvSpPr>
        <p:spPr>
          <a:xfrm>
            <a:off x="1905000" y="1314450"/>
            <a:ext cx="9525" cy="2171700"/>
          </a:xfrm>
          <a:custGeom>
            <a:avLst/>
            <a:gdLst/>
            <a:ahLst/>
            <a:cxnLst/>
            <a:rect l="l" t="t" r="r" b="b"/>
            <a:pathLst>
              <a:path w="9525" h="2171700">
                <a:moveTo>
                  <a:pt x="0" y="0"/>
                </a:moveTo>
                <a:lnTo>
                  <a:pt x="0" y="21717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2" name="Line 62"/>
          <p:cNvSpPr/>
          <p:nvPr/>
        </p:nvSpPr>
        <p:spPr>
          <a:xfrm>
            <a:off x="3810000" y="1314450"/>
            <a:ext cx="9525" cy="2171700"/>
          </a:xfrm>
          <a:custGeom>
            <a:avLst/>
            <a:gdLst/>
            <a:ahLst/>
            <a:cxnLst/>
            <a:rect l="l" t="t" r="r" b="b"/>
            <a:pathLst>
              <a:path w="9525" h="2171700">
                <a:moveTo>
                  <a:pt x="0" y="0"/>
                </a:moveTo>
                <a:lnTo>
                  <a:pt x="0" y="21717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3" name="Line 63"/>
          <p:cNvSpPr/>
          <p:nvPr/>
        </p:nvSpPr>
        <p:spPr>
          <a:xfrm>
            <a:off x="6477000" y="1314450"/>
            <a:ext cx="9525" cy="2171700"/>
          </a:xfrm>
          <a:custGeom>
            <a:avLst/>
            <a:gdLst/>
            <a:ahLst/>
            <a:cxnLst/>
            <a:rect l="l" t="t" r="r" b="b"/>
            <a:pathLst>
              <a:path w="9525" h="2171700">
                <a:moveTo>
                  <a:pt x="0" y="0"/>
                </a:moveTo>
                <a:lnTo>
                  <a:pt x="0" y="21717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4" name="Line 64"/>
          <p:cNvSpPr/>
          <p:nvPr/>
        </p:nvSpPr>
        <p:spPr>
          <a:xfrm>
            <a:off x="9334500" y="1314450"/>
            <a:ext cx="9525" cy="2171700"/>
          </a:xfrm>
          <a:custGeom>
            <a:avLst/>
            <a:gdLst/>
            <a:ahLst/>
            <a:cxnLst/>
            <a:rect l="l" t="t" r="r" b="b"/>
            <a:pathLst>
              <a:path w="9525" h="2171700">
                <a:moveTo>
                  <a:pt x="0" y="0"/>
                </a:moveTo>
                <a:lnTo>
                  <a:pt x="0" y="21717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190500" y="3619500"/>
            <a:ext cx="5695950" cy="32385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867323" y="3723799"/>
            <a:ext cx="2342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Rekomendasi per Profil Investor</a:t>
            </a:r>
          </a:p>
        </p:txBody>
      </p:sp>
      <p:sp>
        <p:nvSpPr>
          <p:cNvPr id="67" name="Rectangle 67"/>
          <p:cNvSpPr/>
          <p:nvPr/>
        </p:nvSpPr>
        <p:spPr>
          <a:xfrm>
            <a:off x="190500" y="3943350"/>
            <a:ext cx="569595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274320" y="4008120"/>
            <a:ext cx="15607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Investor tunggal, 1 SPPG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417570" y="4008120"/>
            <a:ext cx="174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CV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990022" y="4016216"/>
            <a:ext cx="11114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Simple, tarif sama</a:t>
            </a:r>
          </a:p>
        </p:txBody>
      </p:sp>
      <p:sp>
        <p:nvSpPr>
          <p:cNvPr id="71" name="Line 71"/>
          <p:cNvSpPr/>
          <p:nvPr/>
        </p:nvSpPr>
        <p:spPr>
          <a:xfrm>
            <a:off x="190500" y="4210050"/>
            <a:ext cx="5695950" cy="9525"/>
          </a:xfrm>
          <a:custGeom>
            <a:avLst/>
            <a:gdLst/>
            <a:ahLst/>
            <a:cxnLst/>
            <a:rect l="l" t="t" r="r" b="b"/>
            <a:pathLst>
              <a:path w="5695950" h="9525">
                <a:moveTo>
                  <a:pt x="0" y="0"/>
                </a:moveTo>
                <a:lnTo>
                  <a:pt x="56959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190500" y="4210050"/>
            <a:ext cx="56959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274320" y="4274820"/>
            <a:ext cx="1587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Investor multi, 2–5 SPPG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417570" y="4274820"/>
            <a:ext cx="7543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PT + UU HPP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275772" y="4282916"/>
            <a:ext cx="14186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Dividen reinvest exempt</a:t>
            </a:r>
          </a:p>
        </p:txBody>
      </p:sp>
      <p:sp>
        <p:nvSpPr>
          <p:cNvPr id="76" name="Line 76"/>
          <p:cNvSpPr/>
          <p:nvPr/>
        </p:nvSpPr>
        <p:spPr>
          <a:xfrm>
            <a:off x="190500" y="4476750"/>
            <a:ext cx="5695950" cy="9525"/>
          </a:xfrm>
          <a:custGeom>
            <a:avLst/>
            <a:gdLst/>
            <a:ahLst/>
            <a:cxnLst/>
            <a:rect l="l" t="t" r="r" b="b"/>
            <a:pathLst>
              <a:path w="5695950" h="9525">
                <a:moveTo>
                  <a:pt x="0" y="0"/>
                </a:moveTo>
                <a:lnTo>
                  <a:pt x="56959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190500" y="4476750"/>
            <a:ext cx="569595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274320" y="4541520"/>
            <a:ext cx="1757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Konsorsium komunitas lokal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417570" y="4541520"/>
            <a:ext cx="5956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Koperasi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085272" y="4549616"/>
            <a:ext cx="15210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Akses pendanaan koperasi</a:t>
            </a:r>
          </a:p>
        </p:txBody>
      </p:sp>
      <p:sp>
        <p:nvSpPr>
          <p:cNvPr id="81" name="Line 81"/>
          <p:cNvSpPr/>
          <p:nvPr/>
        </p:nvSpPr>
        <p:spPr>
          <a:xfrm>
            <a:off x="190500" y="4743450"/>
            <a:ext cx="5695950" cy="9525"/>
          </a:xfrm>
          <a:custGeom>
            <a:avLst/>
            <a:gdLst/>
            <a:ahLst/>
            <a:cxnLst/>
            <a:rect l="l" t="t" r="r" b="b"/>
            <a:pathLst>
              <a:path w="5695950" h="9525">
                <a:moveTo>
                  <a:pt x="0" y="0"/>
                </a:moveTo>
                <a:lnTo>
                  <a:pt x="56959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190500" y="4743450"/>
            <a:ext cx="56959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274320" y="4808220"/>
            <a:ext cx="1481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Investor besar 5+ SPPG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417570" y="4808220"/>
            <a:ext cx="1334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PT Holding + Anak PT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656772" y="4816316"/>
            <a:ext cx="10270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Ring-fence risiko</a:t>
            </a:r>
          </a:p>
        </p:txBody>
      </p:sp>
      <p:sp>
        <p:nvSpPr>
          <p:cNvPr id="86" name="Rectangle 86"/>
          <p:cNvSpPr/>
          <p:nvPr/>
        </p:nvSpPr>
        <p:spPr>
          <a:xfrm>
            <a:off x="190500" y="3619500"/>
            <a:ext cx="5695950" cy="1390650"/>
          </a:xfrm>
          <a:prstGeom prst="roundRect">
            <a:avLst>
              <a:gd name="adj" fmla="val 2740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87" name="Rectangle 87"/>
          <p:cNvSpPr/>
          <p:nvPr/>
        </p:nvSpPr>
        <p:spPr>
          <a:xfrm>
            <a:off x="6115050" y="3619500"/>
            <a:ext cx="5886450" cy="323850"/>
          </a:xfrm>
          <a:prstGeom prst="roundRect">
            <a:avLst>
              <a:gd name="adj" fmla="val 11765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7322690" y="3723799"/>
            <a:ext cx="3471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Struktur Holding untuk 3+ SPPG (Tax-Efficient)</a:t>
            </a:r>
          </a:p>
        </p:txBody>
      </p:sp>
      <p:sp>
        <p:nvSpPr>
          <p:cNvPr id="89" name="Rectangle 89"/>
          <p:cNvSpPr/>
          <p:nvPr/>
        </p:nvSpPr>
        <p:spPr>
          <a:xfrm>
            <a:off x="6115050" y="4038600"/>
            <a:ext cx="5886450" cy="91440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90" name="Rectangle 90"/>
          <p:cNvSpPr/>
          <p:nvPr/>
        </p:nvSpPr>
        <p:spPr>
          <a:xfrm>
            <a:off x="8096250" y="4114800"/>
            <a:ext cx="1924050" cy="3810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8472151" y="4178141"/>
            <a:ext cx="11722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PT HOLDING (Induk)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235434" y="4338638"/>
            <a:ext cx="16456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Manajemen, Brand, IP, Funding</a:t>
            </a:r>
          </a:p>
        </p:txBody>
      </p:sp>
      <p:sp>
        <p:nvSpPr>
          <p:cNvPr id="93" name="Line 93"/>
          <p:cNvSpPr/>
          <p:nvPr/>
        </p:nvSpPr>
        <p:spPr>
          <a:xfrm>
            <a:off x="7524750" y="44958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2C5282"/>
            </a:solidFill>
          </a:ln>
        </p:spPr>
      </p:sp>
      <p:sp>
        <p:nvSpPr>
          <p:cNvPr id="94" name="Line 94"/>
          <p:cNvSpPr/>
          <p:nvPr/>
        </p:nvSpPr>
        <p:spPr>
          <a:xfrm>
            <a:off x="9058275" y="44958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2C5282"/>
            </a:solidFill>
          </a:ln>
        </p:spPr>
      </p:sp>
      <p:sp>
        <p:nvSpPr>
          <p:cNvPr id="95" name="Line 95"/>
          <p:cNvSpPr/>
          <p:nvPr/>
        </p:nvSpPr>
        <p:spPr>
          <a:xfrm>
            <a:off x="10591800" y="44958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2C5282"/>
            </a:solidFill>
          </a:ln>
        </p:spPr>
      </p:sp>
      <p:sp>
        <p:nvSpPr>
          <p:cNvPr id="96" name="Line 96"/>
          <p:cNvSpPr/>
          <p:nvPr/>
        </p:nvSpPr>
        <p:spPr>
          <a:xfrm>
            <a:off x="7524750" y="468630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14288">
            <a:solidFill>
              <a:srgbClr val="2C5282"/>
            </a:solidFill>
          </a:ln>
        </p:spPr>
      </p:sp>
      <p:sp>
        <p:nvSpPr>
          <p:cNvPr id="97" name="Rectangle 97"/>
          <p:cNvSpPr/>
          <p:nvPr/>
        </p:nvSpPr>
        <p:spPr>
          <a:xfrm>
            <a:off x="6210300" y="4686300"/>
            <a:ext cx="1333500" cy="209550"/>
          </a:xfrm>
          <a:prstGeom prst="roundRect">
            <a:avLst>
              <a:gd name="adj" fmla="val 13636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6464975" y="4748212"/>
            <a:ext cx="8241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PT SPPG-1 | 22%</a:t>
            </a:r>
          </a:p>
        </p:txBody>
      </p:sp>
      <p:sp>
        <p:nvSpPr>
          <p:cNvPr id="99" name="Rectangle 99"/>
          <p:cNvSpPr/>
          <p:nvPr/>
        </p:nvSpPr>
        <p:spPr>
          <a:xfrm>
            <a:off x="7734300" y="4686300"/>
            <a:ext cx="1333500" cy="209550"/>
          </a:xfrm>
          <a:prstGeom prst="roundRect">
            <a:avLst>
              <a:gd name="adj" fmla="val 13636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7974598" y="4748212"/>
            <a:ext cx="8529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PT SPPG-2 | 22%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9258300" y="4686300"/>
            <a:ext cx="1333500" cy="209550"/>
          </a:xfrm>
          <a:prstGeom prst="roundRect">
            <a:avLst>
              <a:gd name="adj" fmla="val 13636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9498598" y="4748212"/>
            <a:ext cx="8529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PT SPPG-3 | 22%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937415" y="4891088"/>
            <a:ext cx="42417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Dividen antar PT dalam negeri exempt jika kepemilikan ≥25% (Pasal 4(3)f UU PPh)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6115050" y="5048250"/>
            <a:ext cx="5886450" cy="933450"/>
          </a:xfrm>
          <a:prstGeom prst="roundRect">
            <a:avLst>
              <a:gd name="adj" fmla="val 4082"/>
            </a:avLst>
          </a:prstGeom>
          <a:solidFill>
            <a:srgbClr val="FFFBEB"/>
          </a:solidFill>
          <a:ln w="9525">
            <a:solidFill>
              <a:srgbClr val="D4A017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6275070" y="5141595"/>
            <a:ext cx="2093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Tax Benefits Struktur Holding: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6286500" y="53149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6409372" y="5311616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Konsolidasi rugi-laba antar SPPG (jika satu rugi, kurangi laba SPPG lain)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6286500" y="54673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6409372" y="5464016"/>
            <a:ext cx="48225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Brand management fee antar perusahaan terafiliasi — deductible expense per SPPG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286500" y="56197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11" name="TextBox 111"/>
          <p:cNvSpPr txBox="1"/>
          <p:nvPr/>
        </p:nvSpPr>
        <p:spPr>
          <a:xfrm>
            <a:off x="6409372" y="5616416"/>
            <a:ext cx="51478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Centralized treasury → optimasi cash &amp; pajak — satu entitas kelola likuiditas semua SPPG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6286500" y="57721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6409372" y="5768816"/>
            <a:ext cx="4479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CAUTION: PMK 172/2023 TP-Doc wajib untuk transaksi afiliasi omzet &gt; Rp 50 M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190500" y="5143500"/>
            <a:ext cx="5695950" cy="838200"/>
          </a:xfrm>
          <a:prstGeom prst="roundRect">
            <a:avLst>
              <a:gd name="adj" fmla="val 4545"/>
            </a:avLst>
          </a:prstGeom>
          <a:solidFill>
            <a:srgbClr val="1B3A6B">
              <a:alpha val="8000"/>
            </a:srgbClr>
          </a:solidFill>
          <a:ln w="9525">
            <a:solidFill>
              <a:srgbClr val="1B3A6B">
                <a:alpha val="30000"/>
              </a:srgbClr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1250558" y="5247799"/>
            <a:ext cx="35758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Optimasi Pajak via UU HPP (Dividen Reinvestment)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21945" y="5446395"/>
            <a:ext cx="4091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Pasal 4(3)f UU PPh (post-HPP): dividen dari WP OP dan WP Badan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21945" y="5617845"/>
            <a:ext cx="4827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dalam negeri EXEMPT jika diinvestasikan kembali di Indonesia minimal 3 tahun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321945" y="5789295"/>
            <a:ext cx="37217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(PMK 18/PMK.03/2021) → ETR tetap di 22%, bukan 29,8%.</a:t>
            </a:r>
          </a:p>
        </p:txBody>
      </p:sp>
      <p:sp>
        <p:nvSpPr>
          <p:cNvPr id="119" name="Rectangle 119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20" name="TextBox 120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1584543" y="66817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57224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PLANNING – PENYUSUTAN CAPEX Rp 3,5 MILIAR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52949" y="304324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Tax Shield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118" y="771049"/>
            <a:ext cx="98502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Penyusutan adalah tax shield terbesar bagi SPPG. Pilihan metode (Garis Lurus vs Saldo Menurun) memengaruhi distribusi tax saving per tahun.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" y="990600"/>
            <a:ext cx="8191500" cy="304800"/>
          </a:xfrm>
          <a:prstGeom prst="roundRect">
            <a:avLst>
              <a:gd name="adj" fmla="val 125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50275" y="1093470"/>
            <a:ext cx="7474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Aset CAPEX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8206" y="1093470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Kelompok Fiskal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90199" y="1093470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Masa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76290" y="1093470"/>
            <a:ext cx="505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Metode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55031" y="1093470"/>
            <a:ext cx="643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Nilai (Rp)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62227" y="1093470"/>
            <a:ext cx="706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Susut/Thn</a:t>
            </a:r>
          </a:p>
        </p:txBody>
      </p:sp>
      <p:sp>
        <p:nvSpPr>
          <p:cNvPr id="15" name="Line 15"/>
          <p:cNvSpPr/>
          <p:nvPr/>
        </p:nvSpPr>
        <p:spPr>
          <a:xfrm>
            <a:off x="2857500" y="990600"/>
            <a:ext cx="9525" cy="2305050"/>
          </a:xfrm>
          <a:custGeom>
            <a:avLst/>
            <a:gdLst/>
            <a:ahLst/>
            <a:cxnLst/>
            <a:rect l="l" t="t" r="r" b="b"/>
            <a:pathLst>
              <a:path w="952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905250" y="990600"/>
            <a:ext cx="9525" cy="2305050"/>
          </a:xfrm>
          <a:custGeom>
            <a:avLst/>
            <a:gdLst/>
            <a:ahLst/>
            <a:cxnLst/>
            <a:rect l="l" t="t" r="r" b="b"/>
            <a:pathLst>
              <a:path w="952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5048250" y="990600"/>
            <a:ext cx="9525" cy="2305050"/>
          </a:xfrm>
          <a:custGeom>
            <a:avLst/>
            <a:gdLst/>
            <a:ahLst/>
            <a:cxnLst/>
            <a:rect l="l" t="t" r="r" b="b"/>
            <a:pathLst>
              <a:path w="952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867400" y="990600"/>
            <a:ext cx="9525" cy="2305050"/>
          </a:xfrm>
          <a:custGeom>
            <a:avLst/>
            <a:gdLst/>
            <a:ahLst/>
            <a:cxnLst/>
            <a:rect l="l" t="t" r="r" b="b"/>
            <a:pathLst>
              <a:path w="952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7048500" y="990600"/>
            <a:ext cx="9525" cy="2305050"/>
          </a:xfrm>
          <a:custGeom>
            <a:avLst/>
            <a:gdLst/>
            <a:ahLst/>
            <a:cxnLst/>
            <a:rect l="l" t="t" r="r" b="b"/>
            <a:pathLst>
              <a:path w="952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90500" y="1295400"/>
            <a:ext cx="8191500" cy="3048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74320" y="1388745"/>
            <a:ext cx="1245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Bangunan permanen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62988" y="1396841"/>
            <a:ext cx="11415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Bangunan Permanen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3023" y="1396841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20 thn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52502" y="13968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GL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50828" y="1396841"/>
            <a:ext cx="8523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1.000.000.000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24273" y="1388745"/>
            <a:ext cx="781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50.000.000</a:t>
            </a:r>
          </a:p>
        </p:txBody>
      </p:sp>
      <p:sp>
        <p:nvSpPr>
          <p:cNvPr id="27" name="Line 27"/>
          <p:cNvSpPr/>
          <p:nvPr/>
        </p:nvSpPr>
        <p:spPr>
          <a:xfrm>
            <a:off x="190500" y="160020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190500" y="1600200"/>
            <a:ext cx="81915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90500" y="1600200"/>
            <a:ext cx="38100" cy="30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55270" y="169354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Mesin dapur, oven, chiller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09995" y="1701641"/>
            <a:ext cx="647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Kelompok 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06158" y="1701641"/>
            <a:ext cx="322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8 thn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04901" y="1701641"/>
            <a:ext cx="448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GL / SM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102036" y="1701641"/>
            <a:ext cx="7499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750.000.000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51751" y="169354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93.750.000 (GL)</a:t>
            </a:r>
          </a:p>
        </p:txBody>
      </p:sp>
      <p:sp>
        <p:nvSpPr>
          <p:cNvPr id="36" name="Line 36"/>
          <p:cNvSpPr/>
          <p:nvPr/>
        </p:nvSpPr>
        <p:spPr>
          <a:xfrm>
            <a:off x="190500" y="190500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190500" y="1905000"/>
            <a:ext cx="8191500" cy="3048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190500" y="1905000"/>
            <a:ext cx="38100" cy="30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55270" y="19983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Kendaraan distribusi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09995" y="2006441"/>
            <a:ext cx="647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Kelompok 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06158" y="2006441"/>
            <a:ext cx="322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8 thn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4901" y="2006441"/>
            <a:ext cx="448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GL / SM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17098" y="2006441"/>
            <a:ext cx="7198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180.000.000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24273" y="1998345"/>
            <a:ext cx="781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22.500.000</a:t>
            </a:r>
          </a:p>
        </p:txBody>
      </p:sp>
      <p:sp>
        <p:nvSpPr>
          <p:cNvPr id="45" name="Line 45"/>
          <p:cNvSpPr/>
          <p:nvPr/>
        </p:nvSpPr>
        <p:spPr>
          <a:xfrm>
            <a:off x="190500" y="220980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190500" y="2209800"/>
            <a:ext cx="81915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190500" y="2209800"/>
            <a:ext cx="38100" cy="30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55270" y="2303145"/>
            <a:ext cx="12518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Komputer, IT, CCTV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025057" y="2311241"/>
            <a:ext cx="6173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Kelompok 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06158" y="2311241"/>
            <a:ext cx="322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4 thn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04901" y="2311241"/>
            <a:ext cx="448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90D9"/>
                </a:solidFill>
                <a:latin typeface="Inter"/>
                <a:ea typeface="Microsoft YaHei"/>
                <a:cs typeface="Inter"/>
              </a:rPr>
              <a:t>GL / SM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135172" y="2311241"/>
            <a:ext cx="6836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50.000.000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341525" y="2303145"/>
            <a:ext cx="7474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12.500.000</a:t>
            </a:r>
          </a:p>
        </p:txBody>
      </p:sp>
      <p:sp>
        <p:nvSpPr>
          <p:cNvPr id="54" name="Line 54"/>
          <p:cNvSpPr/>
          <p:nvPr/>
        </p:nvSpPr>
        <p:spPr>
          <a:xfrm>
            <a:off x="190500" y="251460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190500" y="2514600"/>
            <a:ext cx="8191500" cy="3048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190500" y="2514600"/>
            <a:ext cx="38100" cy="30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255270" y="2607945"/>
            <a:ext cx="15673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Genset, instalasi listrik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09995" y="2616041"/>
            <a:ext cx="647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Kelompok 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06158" y="2616041"/>
            <a:ext cx="322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8 thn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204901" y="2616041"/>
            <a:ext cx="448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GL / SM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102036" y="2616041"/>
            <a:ext cx="7499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280.000.000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4273" y="2607945"/>
            <a:ext cx="781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35.000.000</a:t>
            </a:r>
          </a:p>
        </p:txBody>
      </p:sp>
      <p:sp>
        <p:nvSpPr>
          <p:cNvPr id="63" name="Line 63"/>
          <p:cNvSpPr/>
          <p:nvPr/>
        </p:nvSpPr>
        <p:spPr>
          <a:xfrm>
            <a:off x="190500" y="281940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190500" y="2819400"/>
            <a:ext cx="81915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255270" y="291274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Tanah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8295" y="2920841"/>
            <a:ext cx="990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Tidak disusutkan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623637" y="292084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—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385637" y="292084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050828" y="2920841"/>
            <a:ext cx="8523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1.200.000.000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671637" y="292084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Inter"/>
                <a:ea typeface="Microsoft YaHei"/>
                <a:cs typeface="Inter"/>
              </a:rPr>
              <a:t>0</a:t>
            </a:r>
          </a:p>
        </p:txBody>
      </p:sp>
      <p:sp>
        <p:nvSpPr>
          <p:cNvPr id="71" name="Line 71"/>
          <p:cNvSpPr/>
          <p:nvPr/>
        </p:nvSpPr>
        <p:spPr>
          <a:xfrm>
            <a:off x="190500" y="312420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190500" y="3124200"/>
            <a:ext cx="8191500" cy="3048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255270" y="32175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TOTAL CAPEX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972158" y="3217545"/>
            <a:ext cx="10096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3.500.000.000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248363" y="3217545"/>
            <a:ext cx="9337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~223.750.000</a:t>
            </a:r>
          </a:p>
        </p:txBody>
      </p:sp>
      <p:sp>
        <p:nvSpPr>
          <p:cNvPr id="76" name="Rectangle 76"/>
          <p:cNvSpPr/>
          <p:nvPr/>
        </p:nvSpPr>
        <p:spPr>
          <a:xfrm>
            <a:off x="190500" y="990600"/>
            <a:ext cx="8191500" cy="2438400"/>
          </a:xfrm>
          <a:prstGeom prst="roundRect">
            <a:avLst>
              <a:gd name="adj" fmla="val 1562"/>
            </a:avLst>
          </a:prstGeom>
          <a:noFill/>
          <a:ln w="9525">
            <a:solidFill>
              <a:srgbClr val="CBD5E0"/>
            </a:solidFill>
          </a:ln>
        </p:spPr>
      </p:sp>
      <p:sp>
        <p:nvSpPr>
          <p:cNvPr id="77" name="Line 77"/>
          <p:cNvSpPr/>
          <p:nvPr/>
        </p:nvSpPr>
        <p:spPr>
          <a:xfrm>
            <a:off x="2857500" y="1295400"/>
            <a:ext cx="9525" cy="2133600"/>
          </a:xfrm>
          <a:custGeom>
            <a:avLst/>
            <a:gdLst/>
            <a:ahLst/>
            <a:cxnLst/>
            <a:rect l="l" t="t" r="r" b="b"/>
            <a:pathLst>
              <a:path w="952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78" name="Line 78"/>
          <p:cNvSpPr/>
          <p:nvPr/>
        </p:nvSpPr>
        <p:spPr>
          <a:xfrm>
            <a:off x="3905250" y="1295400"/>
            <a:ext cx="9525" cy="2133600"/>
          </a:xfrm>
          <a:custGeom>
            <a:avLst/>
            <a:gdLst/>
            <a:ahLst/>
            <a:cxnLst/>
            <a:rect l="l" t="t" r="r" b="b"/>
            <a:pathLst>
              <a:path w="952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79" name="Line 79"/>
          <p:cNvSpPr/>
          <p:nvPr/>
        </p:nvSpPr>
        <p:spPr>
          <a:xfrm>
            <a:off x="5048250" y="1295400"/>
            <a:ext cx="9525" cy="2133600"/>
          </a:xfrm>
          <a:custGeom>
            <a:avLst/>
            <a:gdLst/>
            <a:ahLst/>
            <a:cxnLst/>
            <a:rect l="l" t="t" r="r" b="b"/>
            <a:pathLst>
              <a:path w="952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0" name="Line 80"/>
          <p:cNvSpPr/>
          <p:nvPr/>
        </p:nvSpPr>
        <p:spPr>
          <a:xfrm>
            <a:off x="5867400" y="1295400"/>
            <a:ext cx="9525" cy="2133600"/>
          </a:xfrm>
          <a:custGeom>
            <a:avLst/>
            <a:gdLst/>
            <a:ahLst/>
            <a:cxnLst/>
            <a:rect l="l" t="t" r="r" b="b"/>
            <a:pathLst>
              <a:path w="952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1" name="Line 81"/>
          <p:cNvSpPr/>
          <p:nvPr/>
        </p:nvSpPr>
        <p:spPr>
          <a:xfrm>
            <a:off x="7048500" y="1295400"/>
            <a:ext cx="9525" cy="2133600"/>
          </a:xfrm>
          <a:custGeom>
            <a:avLst/>
            <a:gdLst/>
            <a:ahLst/>
            <a:cxnLst/>
            <a:rect l="l" t="t" r="r" b="b"/>
            <a:pathLst>
              <a:path w="952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8572500" y="990600"/>
            <a:ext cx="3429000" cy="304800"/>
          </a:xfrm>
          <a:prstGeom prst="roundRect">
            <a:avLst>
              <a:gd name="adj" fmla="val 125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9276580" y="1085374"/>
            <a:ext cx="20208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Shield (Mesin Rp 750 jt)</a:t>
            </a:r>
          </a:p>
        </p:txBody>
      </p:sp>
      <p:sp>
        <p:nvSpPr>
          <p:cNvPr id="84" name="Rectangle 84"/>
          <p:cNvSpPr/>
          <p:nvPr/>
        </p:nvSpPr>
        <p:spPr>
          <a:xfrm>
            <a:off x="8572500" y="1390650"/>
            <a:ext cx="3429000" cy="2038350"/>
          </a:xfrm>
          <a:prstGeom prst="roundRect">
            <a:avLst>
              <a:gd name="adj" fmla="val 1869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992010" y="1503045"/>
            <a:ext cx="2589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Tahun 1 – Garis Lurus vs Saldo Menurun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943022" y="1777841"/>
            <a:ext cx="990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Garis Lurus (GL)</a:t>
            </a:r>
          </a:p>
        </p:txBody>
      </p:sp>
      <p:sp>
        <p:nvSpPr>
          <p:cNvPr id="87" name="Rectangle 87"/>
          <p:cNvSpPr/>
          <p:nvPr/>
        </p:nvSpPr>
        <p:spPr>
          <a:xfrm>
            <a:off x="8953500" y="1933575"/>
            <a:ext cx="1047750" cy="228600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9131631" y="1996916"/>
            <a:ext cx="6914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93,75 jt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943022" y="2177891"/>
            <a:ext cx="6896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Tax saving: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609772" y="2177891"/>
            <a:ext cx="761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4A90D9"/>
                </a:solidFill>
                <a:latin typeface="Inter"/>
                <a:ea typeface="Microsoft YaHei"/>
                <a:cs typeface="Inter"/>
              </a:rPr>
              <a:t>Rp 20,6 juta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943022" y="2368391"/>
            <a:ext cx="11716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Saldo Menurun (SM)</a:t>
            </a:r>
          </a:p>
        </p:txBody>
      </p:sp>
      <p:sp>
        <p:nvSpPr>
          <p:cNvPr id="92" name="Rectangle 92"/>
          <p:cNvSpPr/>
          <p:nvPr/>
        </p:nvSpPr>
        <p:spPr>
          <a:xfrm>
            <a:off x="8953500" y="2524125"/>
            <a:ext cx="1857375" cy="228600"/>
          </a:xfrm>
          <a:prstGeom prst="roundRect">
            <a:avLst>
              <a:gd name="adj" fmla="val 125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9547495" y="2587466"/>
            <a:ext cx="659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187,5 jt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943022" y="2768441"/>
            <a:ext cx="6896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Tax saving: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609772" y="2768441"/>
            <a:ext cx="7990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Rp 41,25 juta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161081" y="3093720"/>
            <a:ext cx="22518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Extra saving thn-1: ~Rp 20,6 juta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574661" y="3254216"/>
            <a:ext cx="14246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(NPV tax shield SM &gt; GL)</a:t>
            </a:r>
          </a:p>
        </p:txBody>
      </p:sp>
      <p:sp>
        <p:nvSpPr>
          <p:cNvPr id="98" name="Rectangle 98"/>
          <p:cNvSpPr/>
          <p:nvPr/>
        </p:nvSpPr>
        <p:spPr>
          <a:xfrm>
            <a:off x="190500" y="3524250"/>
            <a:ext cx="11811000" cy="304800"/>
          </a:xfrm>
          <a:prstGeom prst="roundRect">
            <a:avLst>
              <a:gd name="adj" fmla="val 125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4102495" y="3628549"/>
            <a:ext cx="39870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Biaya Deductible vs Non-Deductible (Pasal 6 &amp; 9 UU PPh)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190500" y="3924300"/>
            <a:ext cx="5810250" cy="2095500"/>
          </a:xfrm>
          <a:prstGeom prst="roundRect">
            <a:avLst>
              <a:gd name="adj" fmla="val 1818"/>
            </a:avLst>
          </a:prstGeom>
          <a:solidFill>
            <a:srgbClr val="E6FFF0"/>
          </a:solidFill>
          <a:ln w="9525">
            <a:solidFill>
              <a:srgbClr val="276749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2335649" y="4028599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DEDUCTIBLE (Pasal 6)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33375" y="42100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455295" y="4208145"/>
            <a:ext cx="2776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Bahan baku &amp; kemasan (pass-through cost)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333375" y="43815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455295" y="4379595"/>
            <a:ext cx="1955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Gaji 47 karyawan (Pasal 6(1)a)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333375" y="45529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455295" y="4551045"/>
            <a:ext cx="33549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BPJS Kesehatan &amp; Ketenagakerjaan (premi employer)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333375" y="47244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455295" y="4722495"/>
            <a:ext cx="3315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Sewa lahan/kendaraan (wajib withhold PPh 4(2)/23)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333375" y="48958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1" name="TextBox 111"/>
          <p:cNvSpPr txBox="1"/>
          <p:nvPr/>
        </p:nvSpPr>
        <p:spPr>
          <a:xfrm>
            <a:off x="455295" y="4893945"/>
            <a:ext cx="2553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Penyusutan aset fiskal (Pasal 11 UU PPh)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333375" y="50673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455295" y="5065395"/>
            <a:ext cx="21391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Biaya pelatihan SDM (Pasal 6(1)g)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333375" y="52387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455295" y="5236845"/>
            <a:ext cx="26057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Bunga pinjaman modal kerja (DER cap 4:1)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333375" y="54102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7" name="TextBox 117"/>
          <p:cNvSpPr txBox="1"/>
          <p:nvPr/>
        </p:nvSpPr>
        <p:spPr>
          <a:xfrm>
            <a:off x="455295" y="5408295"/>
            <a:ext cx="22245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Asuransi gedung &amp; product liability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333375" y="55816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9" name="TextBox 119"/>
          <p:cNvSpPr txBox="1"/>
          <p:nvPr/>
        </p:nvSpPr>
        <p:spPr>
          <a:xfrm>
            <a:off x="455295" y="5579745"/>
            <a:ext cx="33221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Sumbangan ke PMK 76/2011 (bencana, R&amp;D, olahraga)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333375" y="57531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455295" y="5751195"/>
            <a:ext cx="25466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Fee konsultan pajak (Rp 15–30 juta/thn)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6191250" y="3924300"/>
            <a:ext cx="5810250" cy="2095500"/>
          </a:xfrm>
          <a:prstGeom prst="roundRect">
            <a:avLst>
              <a:gd name="adj" fmla="val 1818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8156977" y="4028599"/>
            <a:ext cx="18787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NON-DEDUCTIBLE (Pasal 9)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6334125" y="42100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5" name="TextBox 125"/>
          <p:cNvSpPr txBox="1"/>
          <p:nvPr/>
        </p:nvSpPr>
        <p:spPr>
          <a:xfrm>
            <a:off x="6456045" y="4208145"/>
            <a:ext cx="2664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Sumbangan keagamaan biasa (Pasal 9(1)g)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6334125" y="43815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7" name="TextBox 127"/>
          <p:cNvSpPr txBox="1"/>
          <p:nvPr/>
        </p:nvSpPr>
        <p:spPr>
          <a:xfrm>
            <a:off x="6456045" y="4379595"/>
            <a:ext cx="32432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Natura/kenikmatan non-objek pajak (PMK 66/2023)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6334125" y="45529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9" name="TextBox 129"/>
          <p:cNvSpPr txBox="1"/>
          <p:nvPr/>
        </p:nvSpPr>
        <p:spPr>
          <a:xfrm>
            <a:off x="6456045" y="4551045"/>
            <a:ext cx="2185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Sanksi &amp; denda pajak (Pasal 9(1)k)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6334125" y="47244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31" name="TextBox 131"/>
          <p:cNvSpPr txBox="1"/>
          <p:nvPr/>
        </p:nvSpPr>
        <p:spPr>
          <a:xfrm>
            <a:off x="6456045" y="4722495"/>
            <a:ext cx="27043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Pajak Penghasilan itu sendiri (Pasal 9(1)h)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6334125" y="489585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33" name="TextBox 133"/>
          <p:cNvSpPr txBox="1"/>
          <p:nvPr/>
        </p:nvSpPr>
        <p:spPr>
          <a:xfrm>
            <a:off x="6456045" y="4893945"/>
            <a:ext cx="37887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Entertainment tanpa daftar nominatif (SE-27/PJ.22/1986)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6334125" y="5067300"/>
            <a:ext cx="57150" cy="5715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35" name="TextBox 135"/>
          <p:cNvSpPr txBox="1"/>
          <p:nvPr/>
        </p:nvSpPr>
        <p:spPr>
          <a:xfrm>
            <a:off x="6456045" y="5065395"/>
            <a:ext cx="26123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Cadangan piutang non-bank (Pasal 9(1)c)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7566755" y="5503545"/>
            <a:ext cx="3059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Koreksi fiskal positif = tambah PKP = naik PPh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7550325" y="5694045"/>
            <a:ext cx="3092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Dokumentasi biaya lengkap mencegah temuan DJP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39" name="TextBox 139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8C4E8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11611928" y="6681788"/>
            <a:ext cx="3038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71900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COMPLIANCE CALENDAR 2026 – JADWAL KEWAJIBAN PAJAK SPPG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6471" y="304324"/>
            <a:ext cx="1576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MONTH-END &amp; YEAR-END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" y="666750"/>
            <a:ext cx="1857375" cy="19050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31463" y="71104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KEWAJIBAN BULANAN</a:t>
            </a:r>
          </a:p>
        </p:txBody>
      </p:sp>
      <p:sp>
        <p:nvSpPr>
          <p:cNvPr id="9" name="Rectangle 9"/>
          <p:cNvSpPr/>
          <p:nvPr/>
        </p:nvSpPr>
        <p:spPr>
          <a:xfrm>
            <a:off x="6143625" y="666750"/>
            <a:ext cx="1857375" cy="190500"/>
          </a:xfrm>
          <a:prstGeom prst="roundRect">
            <a:avLst>
              <a:gd name="adj" fmla="val 1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84588" y="71104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KEWAJIBAN TAHUNAN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96250" y="666750"/>
            <a:ext cx="1762125" cy="190500"/>
          </a:xfrm>
          <a:prstGeom prst="roundRect">
            <a:avLst>
              <a:gd name="adj" fmla="val 150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22430" y="711041"/>
            <a:ext cx="9002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TANGGAL KRITIS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914400"/>
            <a:ext cx="5715000" cy="28575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56222" y="1006316"/>
            <a:ext cx="963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Jenis Kewajiban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0317" y="1006316"/>
            <a:ext cx="5143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Deadline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10101" y="1006316"/>
            <a:ext cx="571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Platform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96350" y="1006316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Dasar Hukum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90500" y="1200150"/>
            <a:ext cx="571500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56222" y="1282541"/>
            <a:ext cx="963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SPT Masa PPh 21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40959" y="1282541"/>
            <a:ext cx="1033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Tgl 20 bln berikut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53327" y="128254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Coretax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25008" y="1290638"/>
            <a:ext cx="9227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PMK 168/2023 TER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90500" y="1466850"/>
            <a:ext cx="5715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56222" y="1549241"/>
            <a:ext cx="995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SPT Masa PPh 23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40959" y="1549241"/>
            <a:ext cx="1033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Tgl 20 bln berikut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52099" y="154924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e-Bupot / Coretax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26330" y="1557338"/>
            <a:ext cx="7200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UU PPh Ps. 23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90500" y="1733550"/>
            <a:ext cx="571500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56222" y="1815941"/>
            <a:ext cx="11342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SPT Masa PPh 4(2)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40959" y="1815941"/>
            <a:ext cx="1033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Tgl 20 bln berikut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53327" y="181594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Coretax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94885" y="1824038"/>
            <a:ext cx="9829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 34/2017 (sewa)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90500" y="2000250"/>
            <a:ext cx="5715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56222" y="2082641"/>
            <a:ext cx="1001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Angsuran PPh 25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56021" y="208264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Tgl 15 bln berikut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53327" y="208264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Coretax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26330" y="2090738"/>
            <a:ext cx="7200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UU PPh Ps. 25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90500" y="2266950"/>
            <a:ext cx="5715000" cy="26670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56222" y="2349341"/>
            <a:ext cx="7927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SPTPD PBJT ⚠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40959" y="2349341"/>
            <a:ext cx="1033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Tgl 20 bln berikut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51504" y="2349341"/>
            <a:ext cx="888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Portal Bapenda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03100" y="2357438"/>
            <a:ext cx="9665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HKPD / Perda lokal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90500" y="2533650"/>
            <a:ext cx="5715000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56222" y="2616041"/>
            <a:ext cx="9381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Pajak Air Tanah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340959" y="2616041"/>
            <a:ext cx="1033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Tgl 20 bln berikut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651504" y="2616041"/>
            <a:ext cx="888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Portal Bapenda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71655" y="2624138"/>
            <a:ext cx="12294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Jika ada sumur artesis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90500" y="914400"/>
            <a:ext cx="5715000" cy="188595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49" name="Line 49"/>
          <p:cNvSpPr/>
          <p:nvPr/>
        </p:nvSpPr>
        <p:spPr>
          <a:xfrm>
            <a:off x="190500" y="12001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0" name="Line 50"/>
          <p:cNvSpPr/>
          <p:nvPr/>
        </p:nvSpPr>
        <p:spPr>
          <a:xfrm>
            <a:off x="190500" y="14668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1" name="Line 51"/>
          <p:cNvSpPr/>
          <p:nvPr/>
        </p:nvSpPr>
        <p:spPr>
          <a:xfrm>
            <a:off x="190500" y="17335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2" name="Line 52"/>
          <p:cNvSpPr/>
          <p:nvPr/>
        </p:nvSpPr>
        <p:spPr>
          <a:xfrm>
            <a:off x="190500" y="2000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3" name="Line 53"/>
          <p:cNvSpPr/>
          <p:nvPr/>
        </p:nvSpPr>
        <p:spPr>
          <a:xfrm>
            <a:off x="190500" y="22669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4" name="Line 54"/>
          <p:cNvSpPr/>
          <p:nvPr/>
        </p:nvSpPr>
        <p:spPr>
          <a:xfrm>
            <a:off x="190500" y="25336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5" name="Line 55"/>
          <p:cNvSpPr/>
          <p:nvPr/>
        </p:nvSpPr>
        <p:spPr>
          <a:xfrm>
            <a:off x="2190750" y="914400"/>
            <a:ext cx="9525" cy="1885950"/>
          </a:xfrm>
          <a:custGeom>
            <a:avLst/>
            <a:gdLst/>
            <a:ahLst/>
            <a:cxnLst/>
            <a:rect l="l" t="t" r="r" b="b"/>
            <a:pathLst>
              <a:path w="9525" h="1885950">
                <a:moveTo>
                  <a:pt x="0" y="0"/>
                </a:moveTo>
                <a:lnTo>
                  <a:pt x="0" y="18859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6" name="Line 56"/>
          <p:cNvSpPr/>
          <p:nvPr/>
        </p:nvSpPr>
        <p:spPr>
          <a:xfrm>
            <a:off x="3524250" y="914400"/>
            <a:ext cx="9525" cy="1885950"/>
          </a:xfrm>
          <a:custGeom>
            <a:avLst/>
            <a:gdLst/>
            <a:ahLst/>
            <a:cxnLst/>
            <a:rect l="l" t="t" r="r" b="b"/>
            <a:pathLst>
              <a:path w="9525" h="1885950">
                <a:moveTo>
                  <a:pt x="0" y="0"/>
                </a:moveTo>
                <a:lnTo>
                  <a:pt x="0" y="18859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7" name="Line 57"/>
          <p:cNvSpPr/>
          <p:nvPr/>
        </p:nvSpPr>
        <p:spPr>
          <a:xfrm>
            <a:off x="4667250" y="914400"/>
            <a:ext cx="9525" cy="1885950"/>
          </a:xfrm>
          <a:custGeom>
            <a:avLst/>
            <a:gdLst/>
            <a:ahLst/>
            <a:cxnLst/>
            <a:rect l="l" t="t" r="r" b="b"/>
            <a:pathLst>
              <a:path w="9525" h="1885950">
                <a:moveTo>
                  <a:pt x="0" y="0"/>
                </a:moveTo>
                <a:lnTo>
                  <a:pt x="0" y="18859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190500" y="2876550"/>
            <a:ext cx="5715000" cy="457200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190500" y="2876550"/>
            <a:ext cx="47625" cy="457200"/>
          </a:xfrm>
          <a:prstGeom prst="roundRect">
            <a:avLst>
              <a:gd name="adj" fmla="val 4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294322" y="2958941"/>
            <a:ext cx="11089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PPh 23 CASH TRAP: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5275" y="3138488"/>
            <a:ext cx="4614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Dipotong mitra Rp281.7jt/thn &gt; PPh Badan terutang Rp133.5jt → lebih bayar struktural.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95275" y="3252788"/>
            <a:ext cx="2899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Ajukan restitusi/pemindahbukuan ke DJP setiap tahun.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143625" y="914400"/>
            <a:ext cx="5857875" cy="285750"/>
          </a:xfrm>
          <a:prstGeom prst="rect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209348" y="1006316"/>
            <a:ext cx="963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Jenis Kewajiban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696317" y="1006316"/>
            <a:ext cx="5143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Deadline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976774" y="1006316"/>
            <a:ext cx="1001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Catatan Penting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143625" y="1200150"/>
            <a:ext cx="5857875" cy="266700"/>
          </a:xfrm>
          <a:prstGeom prst="rect">
            <a:avLst/>
          </a:prstGeom>
          <a:solidFill>
            <a:srgbClr val="E6FFF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209348" y="1282541"/>
            <a:ext cx="16403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SPT Tahunan PPh Badan 1771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572512" y="1282541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30 April 2027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639300" y="1290638"/>
            <a:ext cx="25548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Coretax; TP Doc wajib jika ada transaksi afiliasi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143625" y="1466850"/>
            <a:ext cx="585787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209348" y="1549241"/>
            <a:ext cx="15581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PBB-P2 (Bangunan Dapur)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08659" y="1549241"/>
            <a:ext cx="6896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Sesuai SPPT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639300" y="1557338"/>
            <a:ext cx="20674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Ketetapan Bapenda Kab/Kota setempat</a:t>
            </a:r>
          </a:p>
        </p:txBody>
      </p:sp>
      <p:sp>
        <p:nvSpPr>
          <p:cNvPr id="75" name="Rectangle 75"/>
          <p:cNvSpPr/>
          <p:nvPr/>
        </p:nvSpPr>
        <p:spPr>
          <a:xfrm>
            <a:off x="6143625" y="1733550"/>
            <a:ext cx="5857875" cy="26670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209348" y="1815941"/>
            <a:ext cx="1836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Dokumentasi Transfer Pricing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521303" y="18159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30 April (siap)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639300" y="1824038"/>
            <a:ext cx="20509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Wajib jika SPPG transaksi ke MBG Group</a:t>
            </a:r>
          </a:p>
        </p:txBody>
      </p:sp>
      <p:sp>
        <p:nvSpPr>
          <p:cNvPr id="79" name="Rectangle 79"/>
          <p:cNvSpPr/>
          <p:nvPr/>
        </p:nvSpPr>
        <p:spPr>
          <a:xfrm>
            <a:off x="6143625" y="2000250"/>
            <a:ext cx="585787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6209348" y="2082641"/>
            <a:ext cx="1197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LKPM (jika PT/PMA)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629745" y="2082641"/>
            <a:ext cx="647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Triwulanan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639300" y="2090738"/>
            <a:ext cx="23193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Via OSS BKPM; sanksi Rp100jt jika terlambat</a:t>
            </a:r>
          </a:p>
        </p:txBody>
      </p:sp>
      <p:sp>
        <p:nvSpPr>
          <p:cNvPr id="83" name="Rectangle 83"/>
          <p:cNvSpPr/>
          <p:nvPr/>
        </p:nvSpPr>
        <p:spPr>
          <a:xfrm>
            <a:off x="6143625" y="914400"/>
            <a:ext cx="5857875" cy="135255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84" name="Line 84"/>
          <p:cNvSpPr/>
          <p:nvPr/>
        </p:nvSpPr>
        <p:spPr>
          <a:xfrm>
            <a:off x="6143625" y="1200150"/>
            <a:ext cx="5857875" cy="9525"/>
          </a:xfrm>
          <a:custGeom>
            <a:avLst/>
            <a:gdLst/>
            <a:ahLst/>
            <a:cxnLst/>
            <a:rect l="l" t="t" r="r" b="b"/>
            <a:pathLst>
              <a:path w="5857875" h="9525">
                <a:moveTo>
                  <a:pt x="0" y="0"/>
                </a:moveTo>
                <a:lnTo>
                  <a:pt x="585787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5" name="Line 85"/>
          <p:cNvSpPr/>
          <p:nvPr/>
        </p:nvSpPr>
        <p:spPr>
          <a:xfrm>
            <a:off x="6143625" y="1466850"/>
            <a:ext cx="5857875" cy="9525"/>
          </a:xfrm>
          <a:custGeom>
            <a:avLst/>
            <a:gdLst/>
            <a:ahLst/>
            <a:cxnLst/>
            <a:rect l="l" t="t" r="r" b="b"/>
            <a:pathLst>
              <a:path w="5857875" h="9525">
                <a:moveTo>
                  <a:pt x="0" y="0"/>
                </a:moveTo>
                <a:lnTo>
                  <a:pt x="585787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6" name="Line 86"/>
          <p:cNvSpPr/>
          <p:nvPr/>
        </p:nvSpPr>
        <p:spPr>
          <a:xfrm>
            <a:off x="6143625" y="1733550"/>
            <a:ext cx="5857875" cy="9525"/>
          </a:xfrm>
          <a:custGeom>
            <a:avLst/>
            <a:gdLst/>
            <a:ahLst/>
            <a:cxnLst/>
            <a:rect l="l" t="t" r="r" b="b"/>
            <a:pathLst>
              <a:path w="5857875" h="9525">
                <a:moveTo>
                  <a:pt x="0" y="0"/>
                </a:moveTo>
                <a:lnTo>
                  <a:pt x="585787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7" name="Line 87"/>
          <p:cNvSpPr/>
          <p:nvPr/>
        </p:nvSpPr>
        <p:spPr>
          <a:xfrm>
            <a:off x="6143625" y="2000250"/>
            <a:ext cx="5857875" cy="9525"/>
          </a:xfrm>
          <a:custGeom>
            <a:avLst/>
            <a:gdLst/>
            <a:ahLst/>
            <a:cxnLst/>
            <a:rect l="l" t="t" r="r" b="b"/>
            <a:pathLst>
              <a:path w="5857875" h="9525">
                <a:moveTo>
                  <a:pt x="0" y="0"/>
                </a:moveTo>
                <a:lnTo>
                  <a:pt x="5857875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8" name="Line 88"/>
          <p:cNvSpPr/>
          <p:nvPr/>
        </p:nvSpPr>
        <p:spPr>
          <a:xfrm>
            <a:off x="8334375" y="914400"/>
            <a:ext cx="9525" cy="1352550"/>
          </a:xfrm>
          <a:custGeom>
            <a:avLst/>
            <a:gdLst/>
            <a:ahLst/>
            <a:cxnLst/>
            <a:rect l="l" t="t" r="r" b="b"/>
            <a:pathLst>
              <a:path w="952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89" name="Line 89"/>
          <p:cNvSpPr/>
          <p:nvPr/>
        </p:nvSpPr>
        <p:spPr>
          <a:xfrm>
            <a:off x="9572625" y="914400"/>
            <a:ext cx="9525" cy="1352550"/>
          </a:xfrm>
          <a:custGeom>
            <a:avLst/>
            <a:gdLst/>
            <a:ahLst/>
            <a:cxnLst/>
            <a:rect l="l" t="t" r="r" b="b"/>
            <a:pathLst>
              <a:path w="952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6132195" y="2322195"/>
            <a:ext cx="19413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TANGGAL KRITIS SETIAP BULAN:</a:t>
            </a:r>
          </a:p>
        </p:txBody>
      </p:sp>
      <p:sp>
        <p:nvSpPr>
          <p:cNvPr id="91" name="Rectangle 91"/>
          <p:cNvSpPr/>
          <p:nvPr/>
        </p:nvSpPr>
        <p:spPr>
          <a:xfrm>
            <a:off x="6143625" y="2476500"/>
            <a:ext cx="533400" cy="20955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6239780" y="2538412"/>
            <a:ext cx="3410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10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752272" y="2530316"/>
            <a:ext cx="24187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Setor PPh 21 / 23 / 4(2) masa sebelumnya</a:t>
            </a:r>
          </a:p>
        </p:txBody>
      </p:sp>
      <p:sp>
        <p:nvSpPr>
          <p:cNvPr id="94" name="Rectangle 94"/>
          <p:cNvSpPr/>
          <p:nvPr/>
        </p:nvSpPr>
        <p:spPr>
          <a:xfrm>
            <a:off x="6143625" y="2743200"/>
            <a:ext cx="533400" cy="209550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6239780" y="2805112"/>
            <a:ext cx="3410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15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752272" y="2797016"/>
            <a:ext cx="13222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Setor Angsuran PPh 25</a:t>
            </a:r>
          </a:p>
        </p:txBody>
      </p:sp>
      <p:sp>
        <p:nvSpPr>
          <p:cNvPr id="97" name="Rectangle 97"/>
          <p:cNvSpPr/>
          <p:nvPr/>
        </p:nvSpPr>
        <p:spPr>
          <a:xfrm>
            <a:off x="6143625" y="3009900"/>
            <a:ext cx="533400" cy="20955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6225403" y="3071812"/>
            <a:ext cx="3698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20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752272" y="3063716"/>
            <a:ext cx="23524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Lapor SPT Masa + SPTPD PBJT ke Bapenda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6143625" y="3295650"/>
            <a:ext cx="5857875" cy="190500"/>
          </a:xfrm>
          <a:prstGeom prst="roundRect">
            <a:avLst>
              <a:gd name="adj" fmla="val 15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6680353" y="3348038"/>
            <a:ext cx="4774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Sanksi terlambat: Rp100.000/SPT + bunga 2%/bln dari pokok pajak yang kurang disetor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190500" y="3600450"/>
            <a:ext cx="11811000" cy="2590800"/>
          </a:xfrm>
          <a:prstGeom prst="roundRect">
            <a:avLst>
              <a:gd name="adj" fmla="val 1838"/>
            </a:avLst>
          </a:prstGeom>
          <a:solidFill>
            <a:srgbClr val="EEF2F8"/>
          </a:solidFill>
          <a:ln w="9525">
            <a:solidFill>
              <a:srgbClr val="CBD5E0"/>
            </a:solidFill>
          </a:ln>
        </p:spPr>
      </p:sp>
      <p:sp>
        <p:nvSpPr>
          <p:cNvPr id="103" name="Rectangle 103"/>
          <p:cNvSpPr/>
          <p:nvPr/>
        </p:nvSpPr>
        <p:spPr>
          <a:xfrm>
            <a:off x="190500" y="3600450"/>
            <a:ext cx="57150" cy="25908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3881955" y="3704749"/>
            <a:ext cx="44280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CORETAX (PMK 81/2024) – SISTEM ADMINISTRASI PAJAK BARU DJP</a:t>
            </a:r>
          </a:p>
        </p:txBody>
      </p:sp>
      <p:sp>
        <p:nvSpPr>
          <p:cNvPr id="105" name="Line 105"/>
          <p:cNvSpPr/>
          <p:nvPr/>
        </p:nvSpPr>
        <p:spPr>
          <a:xfrm>
            <a:off x="6096000" y="3905250"/>
            <a:ext cx="9525" cy="2247900"/>
          </a:xfrm>
          <a:custGeom>
            <a:avLst/>
            <a:gdLst/>
            <a:ahLst/>
            <a:cxnLst/>
            <a:rect l="l" t="t" r="r" b="b"/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6" name="TextBox 106"/>
          <p:cNvSpPr txBox="1"/>
          <p:nvPr/>
        </p:nvSpPr>
        <p:spPr>
          <a:xfrm>
            <a:off x="312420" y="3960495"/>
            <a:ext cx="1955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PERUBAHAN UTAMA 2025–2026: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323850" y="4133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465772" y="4140041"/>
            <a:ext cx="3762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DJP Online digantikan Coretax per 1 Jan 2025 (migrasi bertahap)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323850" y="4324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10" name="TextBox 110"/>
          <p:cNvSpPr txBox="1"/>
          <p:nvPr/>
        </p:nvSpPr>
        <p:spPr>
          <a:xfrm>
            <a:off x="465772" y="4330541"/>
            <a:ext cx="3527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e-Faktur 4.0 terintegrasi dalam Coretax (berlaku bagi PKP)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323850" y="4514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465772" y="4521041"/>
            <a:ext cx="42261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e-Bupot 21/26 &amp; Unifikasi PPh via Coretax (tidak perlu aplikasi terpisah)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323850" y="4705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4" name="TextBox 114"/>
          <p:cNvSpPr txBox="1"/>
          <p:nvPr/>
        </p:nvSpPr>
        <p:spPr>
          <a:xfrm>
            <a:off x="465772" y="4711541"/>
            <a:ext cx="34609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Pembayaran: kode billing MPN G3 dibuat langsung di Coretax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323850" y="4895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465772" y="4902041"/>
            <a:ext cx="43947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Notifikasi otomatis (e-mail/HP) saat ketetapan pajak atau STP diterbitkan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323850" y="5086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465772" y="5092541"/>
            <a:ext cx="41658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Sertifikat elektronik pengurus wajib aktif sebelum dapat login Coretax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217920" y="3960495"/>
            <a:ext cx="21138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RISIKO TRANSISI &amp; ACTION ITEMS: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6229350" y="4133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6371272" y="4140041"/>
            <a:ext cx="46176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Sistem masih dalam masa stabilisasi — antisipasi downtime pada tgl lapor kritis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6229350" y="4324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3" name="TextBox 123"/>
          <p:cNvSpPr txBox="1"/>
          <p:nvPr/>
        </p:nvSpPr>
        <p:spPr>
          <a:xfrm>
            <a:off x="6371272" y="4330541"/>
            <a:ext cx="46297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Data historis SPT tidak migrasi otomatis — simpan arsip lengkap dari DJP Online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6229350" y="4514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25" name="TextBox 125"/>
          <p:cNvSpPr txBox="1"/>
          <p:nvPr/>
        </p:nvSpPr>
        <p:spPr>
          <a:xfrm>
            <a:off x="6371272" y="4521041"/>
            <a:ext cx="48948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Error input Coretax dapat sebabkan kurang/lebih bayar — verifikasi sebelum submit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6229350" y="4705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27" name="TextBox 127"/>
          <p:cNvSpPr txBox="1"/>
          <p:nvPr/>
        </p:nvSpPr>
        <p:spPr>
          <a:xfrm>
            <a:off x="6371272" y="471154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Konfirmasi e-Bupot ke mitra/penyedia untuk rekonsiliasi PPh 23 bulanan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6229350" y="4895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29" name="TextBox 129"/>
          <p:cNvSpPr txBox="1"/>
          <p:nvPr/>
        </p:nvSpPr>
        <p:spPr>
          <a:xfrm>
            <a:off x="6371272" y="4902041"/>
            <a:ext cx="4671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Daftar Coretax &amp; uji coba e-Bupot sebelum SPPG beroperasi — bukan "on the fly"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323850" y="5276850"/>
            <a:ext cx="11563350" cy="800100"/>
          </a:xfrm>
          <a:prstGeom prst="roundRect">
            <a:avLst>
              <a:gd name="adj" fmla="val 4762"/>
            </a:avLst>
          </a:prstGeom>
          <a:solidFill>
            <a:srgbClr val="1B3A6B">
              <a:alpha val="7000"/>
            </a:srgbClr>
          </a:solidFill>
          <a:ln w="9525">
            <a:solidFill>
              <a:srgbClr val="1B3A6B">
                <a:alpha val="30000"/>
              </a:srgbClr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4821712" y="5360670"/>
            <a:ext cx="2548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PRE-OPERATIONAL CHECKLIST CORETAX: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476250" y="552450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33" name="TextBox 133"/>
          <p:cNvSpPr txBox="1"/>
          <p:nvPr/>
        </p:nvSpPr>
        <p:spPr>
          <a:xfrm>
            <a:off x="608648" y="5530691"/>
            <a:ext cx="3027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Aktivasi akun Coretax (NPWP + sertifikat direktur)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3429000" y="552450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35" name="TextBox 135"/>
          <p:cNvSpPr txBox="1"/>
          <p:nvPr/>
        </p:nvSpPr>
        <p:spPr>
          <a:xfrm>
            <a:off x="3561398" y="5530691"/>
            <a:ext cx="2394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Setup e-Bupot 23 ke penyedia bahan baku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6191250" y="552450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37" name="TextBox 137"/>
          <p:cNvSpPr txBox="1"/>
          <p:nvPr/>
        </p:nvSpPr>
        <p:spPr>
          <a:xfrm>
            <a:off x="6323648" y="5530691"/>
            <a:ext cx="3129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Koordinasi Bapenda: konfirmasi PBJT applicable/tidak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9144000" y="552450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39" name="TextBox 139"/>
          <p:cNvSpPr txBox="1"/>
          <p:nvPr/>
        </p:nvSpPr>
        <p:spPr>
          <a:xfrm>
            <a:off x="9276398" y="5530691"/>
            <a:ext cx="20211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Test billing MPN G3 PPh 25 pertama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476250" y="573405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41" name="TextBox 141"/>
          <p:cNvSpPr txBox="1"/>
          <p:nvPr/>
        </p:nvSpPr>
        <p:spPr>
          <a:xfrm>
            <a:off x="608648" y="5740241"/>
            <a:ext cx="25934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Simpan arsip DJP Online (SPT + SSP historis)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3429000" y="5734050"/>
            <a:ext cx="76200" cy="7620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43" name="TextBox 143"/>
          <p:cNvSpPr txBox="1"/>
          <p:nvPr/>
        </p:nvSpPr>
        <p:spPr>
          <a:xfrm>
            <a:off x="3561398" y="5740241"/>
            <a:ext cx="24910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Jadwalkan restitusi PPh 23 tahunan ke DJP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6191250" y="5734050"/>
            <a:ext cx="76200" cy="76200"/>
          </a:xfrm>
          <a:prstGeom prst="roundRect">
            <a:avLst>
              <a:gd name="adj" fmla="val 125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45" name="TextBox 145"/>
          <p:cNvSpPr txBox="1"/>
          <p:nvPr/>
        </p:nvSpPr>
        <p:spPr>
          <a:xfrm>
            <a:off x="6323648" y="5740241"/>
            <a:ext cx="27094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Review SPT sebelum deadline — jangan mepet!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9144000" y="5734050"/>
            <a:ext cx="76200" cy="76200"/>
          </a:xfrm>
          <a:prstGeom prst="roundRect">
            <a:avLst>
              <a:gd name="adj" fmla="val 125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47" name="TextBox 147"/>
          <p:cNvSpPr txBox="1"/>
          <p:nvPr/>
        </p:nvSpPr>
        <p:spPr>
          <a:xfrm>
            <a:off x="9276398" y="574024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Tunjuk PIC pajak harian di SPPG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49" name="TextBox 149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11584543" y="66817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6759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RISK MATRIX &amp; SANKSI PAJAK – PETA RISIKO SPPG MBG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7663" y="304324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RED FLAG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9826" y="779145"/>
            <a:ext cx="15341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PROBABILITAS × DAMPAK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-63163" y="2179975"/>
            <a:ext cx="421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DAMPAK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705" y="1298734"/>
            <a:ext cx="48541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Sgt Tinggi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5943" y="1832134"/>
            <a:ext cx="2931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Tinggi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651" y="2365534"/>
            <a:ext cx="3424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Sedang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651" y="2898934"/>
            <a:ext cx="3424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Rendah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413" y="3432334"/>
            <a:ext cx="53471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Sgt Rendah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7700" y="11239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1181100" y="11239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714500" y="1123950"/>
            <a:ext cx="533400" cy="533400"/>
          </a:xfrm>
          <a:prstGeom prst="rect">
            <a:avLst/>
          </a:prstGeom>
          <a:solidFill>
            <a:srgbClr val="FED7AA"/>
          </a:solidFill>
          <a:ln w="19050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2247900" y="1123950"/>
            <a:ext cx="533400" cy="533400"/>
          </a:xfrm>
          <a:prstGeom prst="rect">
            <a:avLst/>
          </a:prstGeom>
          <a:solidFill>
            <a:srgbClr val="FEB2B2"/>
          </a:solidFill>
          <a:ln w="19050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781300" y="1123950"/>
            <a:ext cx="533400" cy="533400"/>
          </a:xfrm>
          <a:prstGeom prst="rect">
            <a:avLst/>
          </a:prstGeom>
          <a:solidFill>
            <a:srgbClr val="FEB2B2"/>
          </a:solidFill>
          <a:ln w="19050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47700" y="16573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181100" y="16573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714500" y="16573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247900" y="1657350"/>
            <a:ext cx="533400" cy="533400"/>
          </a:xfrm>
          <a:prstGeom prst="rect">
            <a:avLst/>
          </a:prstGeom>
          <a:solidFill>
            <a:srgbClr val="FED7AA"/>
          </a:solidFill>
          <a:ln w="19050">
            <a:solidFill>
              <a:srgbClr val="FFFFFF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2781300" y="1657350"/>
            <a:ext cx="533400" cy="533400"/>
          </a:xfrm>
          <a:prstGeom prst="rect">
            <a:avLst/>
          </a:prstGeom>
          <a:solidFill>
            <a:srgbClr val="FEB2B2"/>
          </a:solidFill>
          <a:ln w="19050">
            <a:solidFill>
              <a:srgbClr val="FFFFFF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47700" y="21907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1181100" y="21907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1714500" y="21907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2247900" y="21907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2781300" y="2190750"/>
            <a:ext cx="533400" cy="533400"/>
          </a:xfrm>
          <a:prstGeom prst="rect">
            <a:avLst/>
          </a:prstGeom>
          <a:solidFill>
            <a:srgbClr val="FED7AA"/>
          </a:solidFill>
          <a:ln w="19050">
            <a:solidFill>
              <a:srgbClr val="FFFFF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47700" y="27241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1181100" y="27241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1714500" y="27241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2247900" y="27241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2781300" y="27241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" y="32575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1181100" y="32575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1714500" y="32575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247900" y="3257550"/>
            <a:ext cx="533400" cy="533400"/>
          </a:xfrm>
          <a:prstGeom prst="rect">
            <a:avLst/>
          </a:prstGeom>
          <a:solidFill>
            <a:srgbClr val="C6F6D5"/>
          </a:solidFill>
          <a:ln w="19050">
            <a:solidFill>
              <a:srgbClr val="FFFFFF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2781300" y="3257550"/>
            <a:ext cx="533400" cy="533400"/>
          </a:xfrm>
          <a:prstGeom prst="rect">
            <a:avLst/>
          </a:prstGeom>
          <a:solidFill>
            <a:srgbClr val="FEFCBF"/>
          </a:solidFill>
          <a:ln w="19050">
            <a:solidFill>
              <a:srgbClr val="FFFFFF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7700" y="1123950"/>
            <a:ext cx="2667000" cy="266700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47045" y="3851434"/>
            <a:ext cx="53471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Sgt Rendah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6564" y="3851434"/>
            <a:ext cx="3424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Rendah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09964" y="3851434"/>
            <a:ext cx="3424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Sedang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68010" y="3851434"/>
            <a:ext cx="2931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Tinggi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05291" y="3851434"/>
            <a:ext cx="48541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Sgt Tinggi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95080" y="3976688"/>
            <a:ext cx="7436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PROBABILITAS</a:t>
            </a:r>
          </a:p>
        </p:txBody>
      </p:sp>
      <p:sp>
        <p:nvSpPr>
          <p:cNvPr id="46" name="Ellipse 46"/>
          <p:cNvSpPr/>
          <p:nvPr/>
        </p:nvSpPr>
        <p:spPr>
          <a:xfrm>
            <a:off x="2362200" y="1238250"/>
            <a:ext cx="304800" cy="30480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433568" y="1365409"/>
            <a:ext cx="16206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TR1</a:t>
            </a:r>
          </a:p>
        </p:txBody>
      </p:sp>
      <p:sp>
        <p:nvSpPr>
          <p:cNvPr id="48" name="Ellipse 48"/>
          <p:cNvSpPr/>
          <p:nvPr/>
        </p:nvSpPr>
        <p:spPr>
          <a:xfrm>
            <a:off x="2895600" y="1771650"/>
            <a:ext cx="304800" cy="30480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2954029" y="18988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TR2</a:t>
            </a:r>
          </a:p>
        </p:txBody>
      </p:sp>
      <p:sp>
        <p:nvSpPr>
          <p:cNvPr id="50" name="Ellipse 50"/>
          <p:cNvSpPr/>
          <p:nvPr/>
        </p:nvSpPr>
        <p:spPr>
          <a:xfrm>
            <a:off x="1295400" y="1771650"/>
            <a:ext cx="304800" cy="30480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353829" y="18988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TR3</a:t>
            </a:r>
          </a:p>
        </p:txBody>
      </p:sp>
      <p:sp>
        <p:nvSpPr>
          <p:cNvPr id="52" name="Ellipse 52"/>
          <p:cNvSpPr/>
          <p:nvPr/>
        </p:nvSpPr>
        <p:spPr>
          <a:xfrm>
            <a:off x="2362200" y="2838450"/>
            <a:ext cx="304800" cy="3048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2420629" y="29656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TR4</a:t>
            </a:r>
          </a:p>
        </p:txBody>
      </p:sp>
      <p:sp>
        <p:nvSpPr>
          <p:cNvPr id="54" name="Ellipse 54"/>
          <p:cNvSpPr/>
          <p:nvPr/>
        </p:nvSpPr>
        <p:spPr>
          <a:xfrm>
            <a:off x="1828800" y="2838450"/>
            <a:ext cx="304800" cy="3048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887229" y="29656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TR5</a:t>
            </a:r>
          </a:p>
        </p:txBody>
      </p:sp>
      <p:sp>
        <p:nvSpPr>
          <p:cNvPr id="56" name="Ellipse 56"/>
          <p:cNvSpPr/>
          <p:nvPr/>
        </p:nvSpPr>
        <p:spPr>
          <a:xfrm>
            <a:off x="2895600" y="2305050"/>
            <a:ext cx="304800" cy="30480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2954029" y="24322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TR6</a:t>
            </a:r>
          </a:p>
        </p:txBody>
      </p:sp>
      <p:sp>
        <p:nvSpPr>
          <p:cNvPr id="58" name="Ellipse 58"/>
          <p:cNvSpPr/>
          <p:nvPr/>
        </p:nvSpPr>
        <p:spPr>
          <a:xfrm>
            <a:off x="1828800" y="3371850"/>
            <a:ext cx="304800" cy="3048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887229" y="34990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TR7</a:t>
            </a:r>
          </a:p>
        </p:txBody>
      </p:sp>
      <p:sp>
        <p:nvSpPr>
          <p:cNvPr id="60" name="Ellipse 60"/>
          <p:cNvSpPr/>
          <p:nvPr/>
        </p:nvSpPr>
        <p:spPr>
          <a:xfrm>
            <a:off x="1295400" y="2305050"/>
            <a:ext cx="304800" cy="3048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353829" y="24322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TR8</a:t>
            </a:r>
          </a:p>
        </p:txBody>
      </p:sp>
      <p:sp>
        <p:nvSpPr>
          <p:cNvPr id="62" name="Ellipse 62"/>
          <p:cNvSpPr/>
          <p:nvPr/>
        </p:nvSpPr>
        <p:spPr>
          <a:xfrm>
            <a:off x="762000" y="3371850"/>
            <a:ext cx="304800" cy="3048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20429" y="34990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TR9</a:t>
            </a:r>
          </a:p>
        </p:txBody>
      </p:sp>
      <p:sp>
        <p:nvSpPr>
          <p:cNvPr id="64" name="Ellipse 64"/>
          <p:cNvSpPr/>
          <p:nvPr/>
        </p:nvSpPr>
        <p:spPr>
          <a:xfrm>
            <a:off x="762000" y="2838450"/>
            <a:ext cx="304800" cy="3048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04902" y="2965609"/>
            <a:ext cx="21899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TR10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47700" y="4143375"/>
            <a:ext cx="133350" cy="95250"/>
          </a:xfrm>
          <a:prstGeom prst="roundRect">
            <a:avLst>
              <a:gd name="adj" fmla="val 20000"/>
            </a:avLst>
          </a:prstGeom>
          <a:solidFill>
            <a:srgbClr val="FEB2B2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10578" y="4156234"/>
            <a:ext cx="2931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TINGGI</a:t>
            </a:r>
          </a:p>
        </p:txBody>
      </p:sp>
      <p:sp>
        <p:nvSpPr>
          <p:cNvPr id="68" name="Rectangle 68"/>
          <p:cNvSpPr/>
          <p:nvPr/>
        </p:nvSpPr>
        <p:spPr>
          <a:xfrm>
            <a:off x="1238250" y="4143375"/>
            <a:ext cx="133350" cy="95250"/>
          </a:xfrm>
          <a:prstGeom prst="roundRect">
            <a:avLst>
              <a:gd name="adj" fmla="val 20000"/>
            </a:avLst>
          </a:prstGeom>
          <a:solidFill>
            <a:srgbClr val="FED7AA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401128" y="4156234"/>
            <a:ext cx="3424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SEDANG</a:t>
            </a:r>
          </a:p>
        </p:txBody>
      </p:sp>
      <p:sp>
        <p:nvSpPr>
          <p:cNvPr id="70" name="Rectangle 70"/>
          <p:cNvSpPr/>
          <p:nvPr/>
        </p:nvSpPr>
        <p:spPr>
          <a:xfrm>
            <a:off x="1866900" y="4143375"/>
            <a:ext cx="133350" cy="95250"/>
          </a:xfrm>
          <a:prstGeom prst="roundRect">
            <a:avLst>
              <a:gd name="adj" fmla="val 20000"/>
            </a:avLst>
          </a:prstGeom>
          <a:solidFill>
            <a:srgbClr val="FEFCB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2029778" y="4156234"/>
            <a:ext cx="3424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RENDAH</a:t>
            </a:r>
          </a:p>
        </p:txBody>
      </p:sp>
      <p:sp>
        <p:nvSpPr>
          <p:cNvPr id="72" name="Rectangle 72"/>
          <p:cNvSpPr/>
          <p:nvPr/>
        </p:nvSpPr>
        <p:spPr>
          <a:xfrm>
            <a:off x="2476500" y="4143375"/>
            <a:ext cx="133350" cy="95250"/>
          </a:xfrm>
          <a:prstGeom prst="roundRect">
            <a:avLst>
              <a:gd name="adj" fmla="val 20000"/>
            </a:avLst>
          </a:prstGeom>
          <a:solidFill>
            <a:srgbClr val="C6F6D5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2639378" y="4156234"/>
            <a:ext cx="46570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VERY LOW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520322" y="779145"/>
            <a:ext cx="23898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KETERANGAN RISIKO PAJAK (TR1–TR10)</a:t>
            </a:r>
          </a:p>
        </p:txBody>
      </p:sp>
      <p:sp>
        <p:nvSpPr>
          <p:cNvPr id="75" name="Rectangle 75"/>
          <p:cNvSpPr/>
          <p:nvPr/>
        </p:nvSpPr>
        <p:spPr>
          <a:xfrm>
            <a:off x="3448050" y="952500"/>
            <a:ext cx="4095750" cy="57150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76" name="Ellipse 76"/>
          <p:cNvSpPr/>
          <p:nvPr/>
        </p:nvSpPr>
        <p:spPr>
          <a:xfrm>
            <a:off x="3505200" y="1104900"/>
            <a:ext cx="266700" cy="26670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3557518" y="1213009"/>
            <a:ext cx="16206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TR1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837622" y="1015841"/>
            <a:ext cx="21274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PBJT – Pajak Barang Jasa Tertentu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838575" y="1157288"/>
            <a:ext cx="18866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Tarif max 10% dari omzet Rp14M/thn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838575" y="1290638"/>
            <a:ext cx="21008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Eksposur: Rp 1,4 miliar/tahun | KRITIS</a:t>
            </a:r>
          </a:p>
        </p:txBody>
      </p:sp>
      <p:sp>
        <p:nvSpPr>
          <p:cNvPr id="81" name="Rectangle 81"/>
          <p:cNvSpPr/>
          <p:nvPr/>
        </p:nvSpPr>
        <p:spPr>
          <a:xfrm>
            <a:off x="3448050" y="1581150"/>
            <a:ext cx="4095750" cy="57150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</p:sp>
      <p:sp>
        <p:nvSpPr>
          <p:cNvPr id="82" name="Ellipse 82"/>
          <p:cNvSpPr/>
          <p:nvPr/>
        </p:nvSpPr>
        <p:spPr>
          <a:xfrm>
            <a:off x="3505200" y="1733550"/>
            <a:ext cx="266700" cy="266700"/>
          </a:xfrm>
          <a:prstGeom prst="ellipse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3544579" y="184165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TR2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837622" y="1644491"/>
            <a:ext cx="25765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PPh 23 Cash Trap – Overcredit Struktural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38575" y="1785938"/>
            <a:ext cx="24836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Dipotong mitra Rp281.7jt &gt; PPh Badan Rp133.5jt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838575" y="1919288"/>
            <a:ext cx="27793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Eksposur: Rp 148jt lebih bayar/thn | PASTI TERJADI</a:t>
            </a:r>
          </a:p>
        </p:txBody>
      </p:sp>
      <p:sp>
        <p:nvSpPr>
          <p:cNvPr id="87" name="Rectangle 87"/>
          <p:cNvSpPr/>
          <p:nvPr/>
        </p:nvSpPr>
        <p:spPr>
          <a:xfrm>
            <a:off x="3448050" y="2209800"/>
            <a:ext cx="4095750" cy="571500"/>
          </a:xfrm>
          <a:prstGeom prst="roundRect">
            <a:avLst>
              <a:gd name="adj" fmla="val 6667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</p:sp>
      <p:sp>
        <p:nvSpPr>
          <p:cNvPr id="88" name="Ellipse 88"/>
          <p:cNvSpPr/>
          <p:nvPr/>
        </p:nvSpPr>
        <p:spPr>
          <a:xfrm>
            <a:off x="3505200" y="2362200"/>
            <a:ext cx="266700" cy="26670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3544579" y="24703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TR3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837622" y="2273141"/>
            <a:ext cx="28612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8936"/>
                </a:solidFill>
                <a:latin typeface="Inter"/>
                <a:ea typeface="Microsoft YaHei"/>
                <a:cs typeface="Inter"/>
              </a:rPr>
              <a:t>Transfer Pricing – Dokumentasi Tidak Tersedia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838575" y="2414588"/>
            <a:ext cx="27191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Wajib jika SPPG transaksi dengan entitas MBG Group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838575" y="2547938"/>
            <a:ext cx="24631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ED8936"/>
                </a:solidFill>
                <a:latin typeface="Inter"/>
                <a:ea typeface="Microsoft YaHei"/>
                <a:cs typeface="Inter"/>
              </a:rPr>
              <a:t>Eksposur: add-back + denda Rp1jt | MODERAT</a:t>
            </a:r>
          </a:p>
        </p:txBody>
      </p:sp>
      <p:sp>
        <p:nvSpPr>
          <p:cNvPr id="93" name="Rectangle 93"/>
          <p:cNvSpPr/>
          <p:nvPr/>
        </p:nvSpPr>
        <p:spPr>
          <a:xfrm>
            <a:off x="3448050" y="2838450"/>
            <a:ext cx="4095750" cy="571500"/>
          </a:xfrm>
          <a:prstGeom prst="roundRect">
            <a:avLst>
              <a:gd name="adj" fmla="val 6667"/>
            </a:avLst>
          </a:prstGeom>
          <a:solidFill>
            <a:srgbClr val="FFFDF0"/>
          </a:solidFill>
          <a:ln w="9525">
            <a:solidFill>
              <a:srgbClr val="D4A017"/>
            </a:solidFill>
          </a:ln>
        </p:spPr>
      </p:sp>
      <p:sp>
        <p:nvSpPr>
          <p:cNvPr id="94" name="Ellipse 94"/>
          <p:cNvSpPr/>
          <p:nvPr/>
        </p:nvSpPr>
        <p:spPr>
          <a:xfrm>
            <a:off x="3505200" y="2990850"/>
            <a:ext cx="266700" cy="2667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3544579" y="309895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TR4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837622" y="2901791"/>
            <a:ext cx="2431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7791F"/>
                </a:solidFill>
                <a:latin typeface="Inter"/>
                <a:ea typeface="Microsoft YaHei"/>
                <a:cs typeface="Inter"/>
              </a:rPr>
              <a:t>Coretax Error – Salah Input / Downtime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838575" y="3043238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Sistem baru, potensi error pengiriman SPT Masa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838575" y="3176588"/>
            <a:ext cx="292316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B7791F"/>
                </a:solidFill>
                <a:latin typeface="Inter"/>
                <a:ea typeface="Microsoft YaHei"/>
                <a:cs typeface="Inter"/>
              </a:rPr>
              <a:t>Eksposur: Rp100rb/SPT + bunga | PROBABILITAS TINGGI</a:t>
            </a:r>
          </a:p>
        </p:txBody>
      </p:sp>
      <p:sp>
        <p:nvSpPr>
          <p:cNvPr id="99" name="Rectangle 99"/>
          <p:cNvSpPr/>
          <p:nvPr/>
        </p:nvSpPr>
        <p:spPr>
          <a:xfrm>
            <a:off x="3448050" y="3467100"/>
            <a:ext cx="4095750" cy="57150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 w="9525">
            <a:solidFill>
              <a:srgbClr val="276749"/>
            </a:solidFill>
          </a:ln>
        </p:spPr>
      </p:sp>
      <p:sp>
        <p:nvSpPr>
          <p:cNvPr id="100" name="Ellipse 100"/>
          <p:cNvSpPr/>
          <p:nvPr/>
        </p:nvSpPr>
        <p:spPr>
          <a:xfrm>
            <a:off x="3505200" y="3619500"/>
            <a:ext cx="266700" cy="2667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3544579" y="37276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TR5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837622" y="3530441"/>
            <a:ext cx="21590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PPh 4(2) Final – Sewa Gedung Dapur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838575" y="3671888"/>
            <a:ext cx="2647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Sewa tempat produksi wajib dipotong PPh 4(2) 10%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838575" y="3805238"/>
            <a:ext cx="27966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Eksposur: variatif per nilai sewa | RENDAH-SEDANG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7620000" y="952500"/>
            <a:ext cx="4305300" cy="571500"/>
          </a:xfrm>
          <a:prstGeom prst="roundRect">
            <a:avLst>
              <a:gd name="adj" fmla="val 6667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</p:sp>
      <p:sp>
        <p:nvSpPr>
          <p:cNvPr id="106" name="Ellipse 106"/>
          <p:cNvSpPr/>
          <p:nvPr/>
        </p:nvSpPr>
        <p:spPr>
          <a:xfrm>
            <a:off x="7677150" y="1104900"/>
            <a:ext cx="266700" cy="26670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7716529" y="12130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TR6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009572" y="1015841"/>
            <a:ext cx="23678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8936"/>
                </a:solidFill>
                <a:latin typeface="Inter"/>
                <a:ea typeface="Microsoft YaHei"/>
                <a:cs typeface="Inter"/>
              </a:rPr>
              <a:t>PPN Masukan – Tidak Dapat Dikreditkan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010525" y="1157288"/>
            <a:ext cx="25384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SPPG non-PKP: PPN pembelian bahan baku = biaya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010525" y="1290638"/>
            <a:ext cx="23538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ED8936"/>
                </a:solidFill>
                <a:latin typeface="Inter"/>
                <a:ea typeface="Microsoft YaHei"/>
                <a:cs typeface="Inter"/>
              </a:rPr>
              <a:t>Eksposur: 12% × COGS → naikkan HPP | PASTI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7620000" y="1581150"/>
            <a:ext cx="4305300" cy="57150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 w="9525">
            <a:solidFill>
              <a:srgbClr val="276749"/>
            </a:solidFill>
          </a:ln>
        </p:spPr>
      </p:sp>
      <p:sp>
        <p:nvSpPr>
          <p:cNvPr id="112" name="Ellipse 112"/>
          <p:cNvSpPr/>
          <p:nvPr/>
        </p:nvSpPr>
        <p:spPr>
          <a:xfrm>
            <a:off x="7677150" y="1733550"/>
            <a:ext cx="266700" cy="2667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7716529" y="184165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TR7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009572" y="1644491"/>
            <a:ext cx="20705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TER PPh 21 – Salah Hitung Golongan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010525" y="1785938"/>
            <a:ext cx="22371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Salah klasifikasi TER A/B/C karyawan SPPG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010525" y="1919288"/>
            <a:ext cx="2543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Eksposur: selisih kecil per karyawan | RENDAH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7620000" y="2209800"/>
            <a:ext cx="4305300" cy="57150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 w="9525">
            <a:solidFill>
              <a:srgbClr val="276749"/>
            </a:solidFill>
          </a:ln>
        </p:spPr>
      </p:sp>
      <p:sp>
        <p:nvSpPr>
          <p:cNvPr id="118" name="Ellipse 118"/>
          <p:cNvSpPr/>
          <p:nvPr/>
        </p:nvSpPr>
        <p:spPr>
          <a:xfrm>
            <a:off x="7677150" y="2362200"/>
            <a:ext cx="266700" cy="2667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119" name="TextBox 119"/>
          <p:cNvSpPr txBox="1"/>
          <p:nvPr/>
        </p:nvSpPr>
        <p:spPr>
          <a:xfrm>
            <a:off x="7716529" y="247030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TR8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009572" y="2273141"/>
            <a:ext cx="18997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CAPEX – Salah Klasifikasi Fiskal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010525" y="2414588"/>
            <a:ext cx="31627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Aset non-deductible salah dibiayakan / tarif deprec. keliru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010525" y="2547938"/>
            <a:ext cx="2767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Eksposur: koreksi fiskal + bunga | RENDAH-SEDANG</a:t>
            </a:r>
          </a:p>
        </p:txBody>
      </p:sp>
      <p:sp>
        <p:nvSpPr>
          <p:cNvPr id="123" name="Rectangle 123"/>
          <p:cNvSpPr/>
          <p:nvPr/>
        </p:nvSpPr>
        <p:spPr>
          <a:xfrm>
            <a:off x="7620000" y="2838450"/>
            <a:ext cx="4305300" cy="57150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 w="9525">
            <a:solidFill>
              <a:srgbClr val="276749"/>
            </a:solidFill>
          </a:ln>
        </p:spPr>
      </p:sp>
      <p:sp>
        <p:nvSpPr>
          <p:cNvPr id="124" name="Ellipse 124"/>
          <p:cNvSpPr/>
          <p:nvPr/>
        </p:nvSpPr>
        <p:spPr>
          <a:xfrm>
            <a:off x="7677150" y="2990850"/>
            <a:ext cx="266700" cy="2667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125" name="TextBox 125"/>
          <p:cNvSpPr txBox="1"/>
          <p:nvPr/>
        </p:nvSpPr>
        <p:spPr>
          <a:xfrm>
            <a:off x="7716529" y="3098959"/>
            <a:ext cx="187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TR9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009572" y="2901791"/>
            <a:ext cx="23108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Pajak Air Tanah – Lupa Daftar / Bayar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8010525" y="3043238"/>
            <a:ext cx="24069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Jika SPPG menggunakan sumur artesis sendiri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8010525" y="3176588"/>
            <a:ext cx="29059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Eksposur: rendah nominal, tetapi bisa memicu audit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7620000" y="3467100"/>
            <a:ext cx="4305300" cy="57150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 w="9525">
            <a:solidFill>
              <a:srgbClr val="276749"/>
            </a:solidFill>
          </a:ln>
        </p:spPr>
      </p:sp>
      <p:sp>
        <p:nvSpPr>
          <p:cNvPr id="130" name="Ellipse 130"/>
          <p:cNvSpPr/>
          <p:nvPr/>
        </p:nvSpPr>
        <p:spPr>
          <a:xfrm>
            <a:off x="7677150" y="3619500"/>
            <a:ext cx="266700" cy="266700"/>
          </a:xfrm>
          <a:prstGeom prst="ellipse">
            <a:avLst/>
          </a:prstGeom>
          <a:solidFill>
            <a:srgbClr val="276749"/>
          </a:solidFill>
          <a:ln>
            <a:noFill/>
          </a:ln>
        </p:spPr>
      </p:sp>
      <p:sp>
        <p:nvSpPr>
          <p:cNvPr id="131" name="TextBox 131"/>
          <p:cNvSpPr txBox="1"/>
          <p:nvPr/>
        </p:nvSpPr>
        <p:spPr>
          <a:xfrm>
            <a:off x="7701002" y="3727609"/>
            <a:ext cx="21899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TR10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8009572" y="3530441"/>
            <a:ext cx="25892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LKPM – Laporan Kegiatan Penanaman Modal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010525" y="3671888"/>
            <a:ext cx="23083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Wajib triwulanan jika PT / PMA via OSS BKPM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8010525" y="3805238"/>
            <a:ext cx="2670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Eksposur: denda Rp100jt jika terlambat | RENDAH</a:t>
            </a:r>
          </a:p>
        </p:txBody>
      </p:sp>
      <p:sp>
        <p:nvSpPr>
          <p:cNvPr id="135" name="Rectangle 135"/>
          <p:cNvSpPr/>
          <p:nvPr/>
        </p:nvSpPr>
        <p:spPr>
          <a:xfrm>
            <a:off x="190500" y="4210050"/>
            <a:ext cx="11811000" cy="28575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136" name="TextBox 136"/>
          <p:cNvSpPr txBox="1"/>
          <p:nvPr/>
        </p:nvSpPr>
        <p:spPr>
          <a:xfrm>
            <a:off x="369570" y="4293870"/>
            <a:ext cx="2741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TABEL SANKSI ADMINISTRASI &amp; PIDANA PAJAK</a:t>
            </a:r>
          </a:p>
        </p:txBody>
      </p:sp>
      <p:sp>
        <p:nvSpPr>
          <p:cNvPr id="137" name="Rectangle 137"/>
          <p:cNvSpPr/>
          <p:nvPr/>
        </p:nvSpPr>
        <p:spPr>
          <a:xfrm>
            <a:off x="190500" y="4495800"/>
            <a:ext cx="11811000" cy="24765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38" name="TextBox 138"/>
          <p:cNvSpPr txBox="1"/>
          <p:nvPr/>
        </p:nvSpPr>
        <p:spPr>
          <a:xfrm>
            <a:off x="257175" y="4576762"/>
            <a:ext cx="10081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Jenis Pelanggaran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609975" y="4576762"/>
            <a:ext cx="11001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Sanksi Administrasi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848475" y="4576762"/>
            <a:ext cx="7551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Sanksi Pidana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9515475" y="4576762"/>
            <a:ext cx="13187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Estimasi Eksposur SPPG</a:t>
            </a:r>
          </a:p>
        </p:txBody>
      </p:sp>
      <p:sp>
        <p:nvSpPr>
          <p:cNvPr id="142" name="Line 142"/>
          <p:cNvSpPr/>
          <p:nvPr/>
        </p:nvSpPr>
        <p:spPr>
          <a:xfrm>
            <a:off x="3524250" y="44958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</p:sp>
      <p:sp>
        <p:nvSpPr>
          <p:cNvPr id="143" name="Line 143"/>
          <p:cNvSpPr/>
          <p:nvPr/>
        </p:nvSpPr>
        <p:spPr>
          <a:xfrm>
            <a:off x="6762750" y="44958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</p:sp>
      <p:sp>
        <p:nvSpPr>
          <p:cNvPr id="144" name="Line 144"/>
          <p:cNvSpPr/>
          <p:nvPr/>
        </p:nvSpPr>
        <p:spPr>
          <a:xfrm>
            <a:off x="9429750" y="44958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</p:sp>
      <p:sp>
        <p:nvSpPr>
          <p:cNvPr id="145" name="Rectangle 145"/>
          <p:cNvSpPr/>
          <p:nvPr/>
        </p:nvSpPr>
        <p:spPr>
          <a:xfrm>
            <a:off x="190500" y="4743450"/>
            <a:ext cx="1181100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46" name="TextBox 146"/>
          <p:cNvSpPr txBox="1"/>
          <p:nvPr/>
        </p:nvSpPr>
        <p:spPr>
          <a:xfrm>
            <a:off x="257175" y="4824412"/>
            <a:ext cx="15659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Terlambat setor pajak masa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590925" y="4824412"/>
            <a:ext cx="17442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Bunga 2%/bulan (maks. 24 bulan)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829425" y="48244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–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9496425" y="4824412"/>
            <a:ext cx="12403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Variatif dari pokok PPh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90500" y="4991100"/>
            <a:ext cx="11811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257175" y="5072062"/>
            <a:ext cx="14394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Terlambat lapor SPT Masa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3590925" y="5072062"/>
            <a:ext cx="11034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100.000/SPT Masa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829425" y="507206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–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9496425" y="5072062"/>
            <a:ext cx="14266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 1.2jt/thn (12 × Rp100rb)</a:t>
            </a:r>
          </a:p>
        </p:txBody>
      </p:sp>
      <p:sp>
        <p:nvSpPr>
          <p:cNvPr id="155" name="Rectangle 155"/>
          <p:cNvSpPr/>
          <p:nvPr/>
        </p:nvSpPr>
        <p:spPr>
          <a:xfrm>
            <a:off x="190500" y="5238750"/>
            <a:ext cx="1181100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56" name="TextBox 156"/>
          <p:cNvSpPr txBox="1"/>
          <p:nvPr/>
        </p:nvSpPr>
        <p:spPr>
          <a:xfrm>
            <a:off x="257175" y="5319712"/>
            <a:ext cx="19570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Terlambat lapor SPT Tahunan Badan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3590925" y="5319712"/>
            <a:ext cx="13827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Rp 1.000.000/SPT Tahunan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829425" y="53197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–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9496425" y="5319712"/>
            <a:ext cx="13061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 1jt (sekali per tahun)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190500" y="5486400"/>
            <a:ext cx="11811000" cy="2476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161" name="TextBox 161"/>
          <p:cNvSpPr txBox="1"/>
          <p:nvPr/>
        </p:nvSpPr>
        <p:spPr>
          <a:xfrm>
            <a:off x="257175" y="5567362"/>
            <a:ext cx="1807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Tidak pungut/setor PBJT (TR1) ⚠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590925" y="5567362"/>
            <a:ext cx="19397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Denda 2% + bunga 2%/bln dari pokok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6829425" y="5567362"/>
            <a:ext cx="1140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Pidana penjara 6 thn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9496425" y="5567362"/>
            <a:ext cx="14279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Rp 1,4 miliar/thn + sanksi</a:t>
            </a:r>
          </a:p>
        </p:txBody>
      </p:sp>
      <p:sp>
        <p:nvSpPr>
          <p:cNvPr id="165" name="Rectangle 165"/>
          <p:cNvSpPr/>
          <p:nvPr/>
        </p:nvSpPr>
        <p:spPr>
          <a:xfrm>
            <a:off x="190500" y="5734050"/>
            <a:ext cx="11811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6" name="TextBox 166"/>
          <p:cNvSpPr txBox="1"/>
          <p:nvPr/>
        </p:nvSpPr>
        <p:spPr>
          <a:xfrm>
            <a:off x="257175" y="5815012"/>
            <a:ext cx="22503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Kurang bayar (terbit SKP Kurang Bayar)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3590925" y="5815012"/>
            <a:ext cx="1782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50%–100% dari pokok kurang bayar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6829425" y="5815012"/>
            <a:ext cx="9008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Pidana 3–6 tahun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9496425" y="5815012"/>
            <a:ext cx="16128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Material – tergantung temuan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190500" y="5981700"/>
            <a:ext cx="1181100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71" name="TextBox 171"/>
          <p:cNvSpPr txBox="1"/>
          <p:nvPr/>
        </p:nvSpPr>
        <p:spPr>
          <a:xfrm>
            <a:off x="257175" y="6062662"/>
            <a:ext cx="20548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TP Dokumentasi tidak tersedia (TR3)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3590925" y="6062662"/>
            <a:ext cx="20345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Denda Rp 1jt + koreksi add-back ke PKP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6829425" y="606266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–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9496425" y="6062662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Naikkan PKP → PPh Badan lebih besar</a:t>
            </a:r>
          </a:p>
        </p:txBody>
      </p:sp>
      <p:sp>
        <p:nvSpPr>
          <p:cNvPr id="175" name="Rectangle 175"/>
          <p:cNvSpPr/>
          <p:nvPr/>
        </p:nvSpPr>
        <p:spPr>
          <a:xfrm>
            <a:off x="190500" y="4495800"/>
            <a:ext cx="11811000" cy="173355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176" name="Line 176"/>
          <p:cNvSpPr/>
          <p:nvPr/>
        </p:nvSpPr>
        <p:spPr>
          <a:xfrm>
            <a:off x="3524250" y="4743450"/>
            <a:ext cx="8477250" cy="9525"/>
          </a:xfrm>
          <a:custGeom>
            <a:avLst/>
            <a:gdLst/>
            <a:ahLst/>
            <a:cxnLst/>
            <a:rect l="l" t="t" r="r" b="b"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177" name="Line 177"/>
          <p:cNvSpPr/>
          <p:nvPr/>
        </p:nvSpPr>
        <p:spPr>
          <a:xfrm>
            <a:off x="3524250" y="4991100"/>
            <a:ext cx="8477250" cy="9525"/>
          </a:xfrm>
          <a:custGeom>
            <a:avLst/>
            <a:gdLst/>
            <a:ahLst/>
            <a:cxnLst/>
            <a:rect l="l" t="t" r="r" b="b"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178" name="Line 178"/>
          <p:cNvSpPr/>
          <p:nvPr/>
        </p:nvSpPr>
        <p:spPr>
          <a:xfrm>
            <a:off x="3524250" y="5238750"/>
            <a:ext cx="8477250" cy="9525"/>
          </a:xfrm>
          <a:custGeom>
            <a:avLst/>
            <a:gdLst/>
            <a:ahLst/>
            <a:cxnLst/>
            <a:rect l="l" t="t" r="r" b="b"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179" name="Line 179"/>
          <p:cNvSpPr/>
          <p:nvPr/>
        </p:nvSpPr>
        <p:spPr>
          <a:xfrm>
            <a:off x="3524250" y="5486400"/>
            <a:ext cx="8477250" cy="9525"/>
          </a:xfrm>
          <a:custGeom>
            <a:avLst/>
            <a:gdLst/>
            <a:ahLst/>
            <a:cxnLst/>
            <a:rect l="l" t="t" r="r" b="b"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180" name="Line 180"/>
          <p:cNvSpPr/>
          <p:nvPr/>
        </p:nvSpPr>
        <p:spPr>
          <a:xfrm>
            <a:off x="3524250" y="5734050"/>
            <a:ext cx="8477250" cy="9525"/>
          </a:xfrm>
          <a:custGeom>
            <a:avLst/>
            <a:gdLst/>
            <a:ahLst/>
            <a:cxnLst/>
            <a:rect l="l" t="t" r="r" b="b"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181" name="Line 181"/>
          <p:cNvSpPr/>
          <p:nvPr/>
        </p:nvSpPr>
        <p:spPr>
          <a:xfrm>
            <a:off x="3524250" y="5981700"/>
            <a:ext cx="8477250" cy="9525"/>
          </a:xfrm>
          <a:custGeom>
            <a:avLst/>
            <a:gdLst/>
            <a:ahLst/>
            <a:cxnLst/>
            <a:rect l="l" t="t" r="r" b="b"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182" name="Line 182"/>
          <p:cNvSpPr/>
          <p:nvPr/>
        </p:nvSpPr>
        <p:spPr>
          <a:xfrm>
            <a:off x="3524250" y="4743450"/>
            <a:ext cx="9525" cy="1485900"/>
          </a:xfrm>
          <a:custGeom>
            <a:avLst/>
            <a:gdLst/>
            <a:ahLst/>
            <a:cxnLst/>
            <a:rect l="l" t="t" r="r" b="b"/>
            <a:pathLst>
              <a:path w="9525" h="1485900">
                <a:moveTo>
                  <a:pt x="0" y="0"/>
                </a:moveTo>
                <a:lnTo>
                  <a:pt x="0" y="14859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83" name="Line 183"/>
          <p:cNvSpPr/>
          <p:nvPr/>
        </p:nvSpPr>
        <p:spPr>
          <a:xfrm>
            <a:off x="6762750" y="4743450"/>
            <a:ext cx="9525" cy="1485900"/>
          </a:xfrm>
          <a:custGeom>
            <a:avLst/>
            <a:gdLst/>
            <a:ahLst/>
            <a:cxnLst/>
            <a:rect l="l" t="t" r="r" b="b"/>
            <a:pathLst>
              <a:path w="9525" h="1485900">
                <a:moveTo>
                  <a:pt x="0" y="0"/>
                </a:moveTo>
                <a:lnTo>
                  <a:pt x="0" y="14859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84" name="Line 184"/>
          <p:cNvSpPr/>
          <p:nvPr/>
        </p:nvSpPr>
        <p:spPr>
          <a:xfrm>
            <a:off x="9429750" y="4743450"/>
            <a:ext cx="9525" cy="1485900"/>
          </a:xfrm>
          <a:custGeom>
            <a:avLst/>
            <a:gdLst/>
            <a:ahLst/>
            <a:cxnLst/>
            <a:rect l="l" t="t" r="r" b="b"/>
            <a:pathLst>
              <a:path w="9525" h="1485900">
                <a:moveTo>
                  <a:pt x="0" y="0"/>
                </a:moveTo>
                <a:lnTo>
                  <a:pt x="0" y="148590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85" name="Rectangle 185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186" name="TextBox 186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11584543" y="66817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65448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ETR ANALYSIS &amp; PELUANG PENGHEMATAN PAJAK SPPG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86303" y="304324"/>
            <a:ext cx="637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CFO 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070" y="702945"/>
            <a:ext cx="2990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PROYEKSI P&amp;L POST-TAX (1 SPPG, TAHUN 2026)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" y="857250"/>
            <a:ext cx="5429250" cy="24765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57175" y="938212"/>
            <a:ext cx="5251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Line Item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69536" y="938212"/>
            <a:ext cx="5308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(juta)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03439" y="938212"/>
            <a:ext cx="3065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% Rev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0021" y="938212"/>
            <a:ext cx="6516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Keterangan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90500" y="1104900"/>
            <a:ext cx="542925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56222" y="1177766"/>
            <a:ext cx="1653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Pendapatan MBG (Revenue)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94524" y="1177766"/>
            <a:ext cx="4068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14,000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22524" y="1177766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100.0%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53627" y="1185862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Kontrak BGN × porsi SPPG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90500" y="1352550"/>
            <a:ext cx="54292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56222" y="1425416"/>
            <a:ext cx="17500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Harga Pokok Penjualan (COGS)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80359" y="142541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(12,460)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58672" y="1425416"/>
            <a:ext cx="352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89.0%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12644" y="1433512"/>
            <a:ext cx="15690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Bahan baku + tenaga produksi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90500" y="1600200"/>
            <a:ext cx="5429250" cy="247650"/>
          </a:xfrm>
          <a:prstGeom prst="rect">
            <a:avLst/>
          </a:prstGeom>
          <a:solidFill>
            <a:srgbClr val="E6FF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56222" y="1673066"/>
            <a:ext cx="16340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Laba Kotor (Gross Profit)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64108" y="1673066"/>
            <a:ext cx="3372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1,540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05362" y="1673066"/>
            <a:ext cx="3056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11.0%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52399" y="1681162"/>
            <a:ext cx="16292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Margin tipis – khas usaha boga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90500" y="1847850"/>
            <a:ext cx="54292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56222" y="1920716"/>
            <a:ext cx="15391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Beban Operasional (OpEx)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46629" y="1920716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(1,000)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55065" y="1920716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7.1%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37384" y="1928812"/>
            <a:ext cx="17442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Admin, angkut, depresiasi CAPEX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90500" y="2095500"/>
            <a:ext cx="542925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56222" y="2168366"/>
            <a:ext cx="15581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Laba Sebelum Pajak (EBT)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71646" y="2168366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540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11688" y="2168366"/>
            <a:ext cx="2992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3.9%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19349" y="2176462"/>
            <a:ext cx="12623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Net margin sangat tipis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90500" y="2343150"/>
            <a:ext cx="542925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56222" y="2416016"/>
            <a:ext cx="1370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+ Koreksi Fiskal Positif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81587" y="2416016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+68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24942" y="241601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0.5%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67225" y="2424112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Biaya non-deductible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90500" y="2590800"/>
            <a:ext cx="5429250" cy="2476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56222" y="2663666"/>
            <a:ext cx="17795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Penghasilan Kena Pajak (PKP)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71646" y="2663666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607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724942" y="266366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4.3%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72890" y="2671762"/>
            <a:ext cx="15087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Basis perhitungan PPh Badan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90500" y="2838450"/>
            <a:ext cx="5429250" cy="2476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256222" y="2911316"/>
            <a:ext cx="1596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PPh Badan terutang (22%)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24941" y="2911316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(133.5)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55065" y="2911316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1.0%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41257" y="2919412"/>
            <a:ext cx="12403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Dikurangi kredit PPh 23</a:t>
            </a:r>
          </a:p>
        </p:txBody>
      </p:sp>
      <p:sp>
        <p:nvSpPr>
          <p:cNvPr id="53" name="Rectangle 53"/>
          <p:cNvSpPr/>
          <p:nvPr/>
        </p:nvSpPr>
        <p:spPr>
          <a:xfrm>
            <a:off x="190500" y="3086100"/>
            <a:ext cx="5429250" cy="2667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256222" y="3168491"/>
            <a:ext cx="15581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Laba Bersih (Net Income)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971646" y="316849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407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24942" y="316849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2.9%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919538" y="3176588"/>
            <a:ext cx="1662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Setelah PPh Badan (book basis)</a:t>
            </a:r>
          </a:p>
        </p:txBody>
      </p:sp>
      <p:sp>
        <p:nvSpPr>
          <p:cNvPr id="58" name="Rectangle 58"/>
          <p:cNvSpPr/>
          <p:nvPr/>
        </p:nvSpPr>
        <p:spPr>
          <a:xfrm>
            <a:off x="190500" y="857250"/>
            <a:ext cx="5429250" cy="249555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59" name="Line 59"/>
          <p:cNvSpPr/>
          <p:nvPr/>
        </p:nvSpPr>
        <p:spPr>
          <a:xfrm>
            <a:off x="190500" y="110490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0" name="Line 60"/>
          <p:cNvSpPr/>
          <p:nvPr/>
        </p:nvSpPr>
        <p:spPr>
          <a:xfrm>
            <a:off x="190500" y="135255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1" name="Line 61"/>
          <p:cNvSpPr/>
          <p:nvPr/>
        </p:nvSpPr>
        <p:spPr>
          <a:xfrm>
            <a:off x="190500" y="160020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2" name="Line 62"/>
          <p:cNvSpPr/>
          <p:nvPr/>
        </p:nvSpPr>
        <p:spPr>
          <a:xfrm>
            <a:off x="190500" y="184785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3" name="Line 63"/>
          <p:cNvSpPr/>
          <p:nvPr/>
        </p:nvSpPr>
        <p:spPr>
          <a:xfrm>
            <a:off x="190500" y="209550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4" name="Line 64"/>
          <p:cNvSpPr/>
          <p:nvPr/>
        </p:nvSpPr>
        <p:spPr>
          <a:xfrm>
            <a:off x="190500" y="234315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5" name="Line 65"/>
          <p:cNvSpPr/>
          <p:nvPr/>
        </p:nvSpPr>
        <p:spPr>
          <a:xfrm>
            <a:off x="190500" y="259080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6" name="Line 66"/>
          <p:cNvSpPr/>
          <p:nvPr/>
        </p:nvSpPr>
        <p:spPr>
          <a:xfrm>
            <a:off x="190500" y="283845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7" name="Line 67"/>
          <p:cNvSpPr/>
          <p:nvPr/>
        </p:nvSpPr>
        <p:spPr>
          <a:xfrm>
            <a:off x="3238500" y="857250"/>
            <a:ext cx="9525" cy="2495550"/>
          </a:xfrm>
          <a:custGeom>
            <a:avLst/>
            <a:gdLst/>
            <a:ahLst/>
            <a:cxnLst/>
            <a:rect l="l" t="t" r="r" b="b"/>
            <a:pathLst>
              <a:path w="9525" h="2495550">
                <a:moveTo>
                  <a:pt x="0" y="0"/>
                </a:moveTo>
                <a:lnTo>
                  <a:pt x="0" y="24955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8" name="Line 68"/>
          <p:cNvSpPr/>
          <p:nvPr/>
        </p:nvSpPr>
        <p:spPr>
          <a:xfrm>
            <a:off x="4048125" y="857250"/>
            <a:ext cx="9525" cy="2495550"/>
          </a:xfrm>
          <a:custGeom>
            <a:avLst/>
            <a:gdLst/>
            <a:ahLst/>
            <a:cxnLst/>
            <a:rect l="l" t="t" r="r" b="b"/>
            <a:pathLst>
              <a:path w="9525" h="2495550">
                <a:moveTo>
                  <a:pt x="0" y="0"/>
                </a:moveTo>
                <a:lnTo>
                  <a:pt x="0" y="24955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190500" y="3429000"/>
            <a:ext cx="2619375" cy="76200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4288">
            <a:solidFill>
              <a:srgbClr val="1B3A6B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698742" y="3568541"/>
            <a:ext cx="15933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Book ETR (PPh Badan / EBT)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58882" y="3722370"/>
            <a:ext cx="107308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24.7%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08090" y="4052888"/>
            <a:ext cx="11746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Hanya PPh Badan / EBT</a:t>
            </a:r>
          </a:p>
        </p:txBody>
      </p:sp>
      <p:sp>
        <p:nvSpPr>
          <p:cNvPr id="73" name="Rectangle 73"/>
          <p:cNvSpPr/>
          <p:nvPr/>
        </p:nvSpPr>
        <p:spPr>
          <a:xfrm>
            <a:off x="2905125" y="3429000"/>
            <a:ext cx="2714625" cy="76200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9050">
            <a:solidFill>
              <a:srgbClr val="C53030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3313390" y="3568541"/>
            <a:ext cx="18885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Cash ETR (PPh23 withheld / EBT)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721132" y="3722370"/>
            <a:ext cx="107308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52.2%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443049" y="4052888"/>
            <a:ext cx="16292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Cash yang benar-benar keluar!</a:t>
            </a:r>
          </a:p>
        </p:txBody>
      </p:sp>
      <p:sp>
        <p:nvSpPr>
          <p:cNvPr id="77" name="Rectangle 77"/>
          <p:cNvSpPr/>
          <p:nvPr/>
        </p:nvSpPr>
        <p:spPr>
          <a:xfrm>
            <a:off x="190500" y="4286250"/>
            <a:ext cx="5429250" cy="47625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4288">
            <a:solidFill>
              <a:srgbClr val="C53030"/>
            </a:solidFill>
          </a:ln>
        </p:spPr>
      </p:sp>
      <p:sp>
        <p:nvSpPr>
          <p:cNvPr id="78" name="Rectangle 78"/>
          <p:cNvSpPr/>
          <p:nvPr/>
        </p:nvSpPr>
        <p:spPr>
          <a:xfrm>
            <a:off x="190500" y="4286250"/>
            <a:ext cx="47625" cy="476250"/>
          </a:xfrm>
          <a:prstGeom prst="roundRect">
            <a:avLst>
              <a:gd name="adj" fmla="val 4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294322" y="4368641"/>
            <a:ext cx="12481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CASH TRAP ANALYSIS: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94322" y="4521041"/>
            <a:ext cx="49249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202C"/>
                </a:solidFill>
                <a:latin typeface="Inter"/>
                <a:ea typeface="Microsoft YaHei"/>
                <a:cs typeface="Inter"/>
              </a:rPr>
              <a:t>PPh 23 withheld Rp281.7jt &gt; PPh Badan Rp133.5jt → Kelebihan Rp148.2jt TERKUNCI di DJP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95275" y="4662488"/>
            <a:ext cx="52713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Likuiditas negatif: SPPG sudah bayar pajak 2× lipat dari yang seharusnya — restitusi wajib diajukan!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703570" y="702945"/>
            <a:ext cx="3238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SENSITIVITAS DAMPAK PBJT TERHADAP BOTTOM LINE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0" y="857250"/>
            <a:ext cx="6286500" cy="24765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6275552" y="938212"/>
            <a:ext cx="7838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Skenario PBJT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689925" y="938212"/>
            <a:ext cx="8126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PBJT Terutang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291197" y="938212"/>
            <a:ext cx="4676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EBT Sisa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740438" y="938212"/>
            <a:ext cx="617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Net Margin</a:t>
            </a:r>
          </a:p>
        </p:txBody>
      </p:sp>
      <p:sp>
        <p:nvSpPr>
          <p:cNvPr id="88" name="Rectangle 88"/>
          <p:cNvSpPr/>
          <p:nvPr/>
        </p:nvSpPr>
        <p:spPr>
          <a:xfrm>
            <a:off x="5715000" y="1104900"/>
            <a:ext cx="6286500" cy="304800"/>
          </a:xfrm>
          <a:prstGeom prst="rect">
            <a:avLst/>
          </a:prstGeom>
          <a:solidFill>
            <a:srgbClr val="E6FFF0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6081376" y="1206341"/>
            <a:ext cx="11722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0% – PBJT EXEMPT ✓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968294" y="12063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Rp 0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248839" y="1206341"/>
            <a:ext cx="5523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Rp 540 jt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899355" y="1206341"/>
            <a:ext cx="2992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3.9%</a:t>
            </a:r>
          </a:p>
        </p:txBody>
      </p:sp>
      <p:sp>
        <p:nvSpPr>
          <p:cNvPr id="93" name="Rectangle 93"/>
          <p:cNvSpPr/>
          <p:nvPr/>
        </p:nvSpPr>
        <p:spPr>
          <a:xfrm>
            <a:off x="5715000" y="1409700"/>
            <a:ext cx="6286500" cy="30480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5939045" y="1511141"/>
            <a:ext cx="14569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5% PBJT (Perda sedang)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766471" y="1511141"/>
            <a:ext cx="659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(Rp 700 jt)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195070" y="1511141"/>
            <a:ext cx="659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(Rp 160 jt)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753862" y="1511141"/>
            <a:ext cx="5902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-1.1% RUGI</a:t>
            </a:r>
          </a:p>
        </p:txBody>
      </p:sp>
      <p:sp>
        <p:nvSpPr>
          <p:cNvPr id="98" name="Rectangle 98"/>
          <p:cNvSpPr/>
          <p:nvPr/>
        </p:nvSpPr>
        <p:spPr>
          <a:xfrm>
            <a:off x="5715000" y="1714500"/>
            <a:ext cx="6286500" cy="30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5834670" y="18159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10% PBJT (tarif max Perda)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696736" y="1815941"/>
            <a:ext cx="7990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(Rp 1.400 jt)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9179256" y="1815941"/>
            <a:ext cx="6914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(Rp 860 jt)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583066" y="1815941"/>
            <a:ext cx="9318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-6.1% BANGKRUT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5715000" y="857250"/>
            <a:ext cx="6286500" cy="116205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104" name="Line 104"/>
          <p:cNvSpPr/>
          <p:nvPr/>
        </p:nvSpPr>
        <p:spPr>
          <a:xfrm>
            <a:off x="5715000" y="11049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5" name="Line 105"/>
          <p:cNvSpPr/>
          <p:nvPr/>
        </p:nvSpPr>
        <p:spPr>
          <a:xfrm>
            <a:off x="5715000" y="14097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6" name="Line 106"/>
          <p:cNvSpPr/>
          <p:nvPr/>
        </p:nvSpPr>
        <p:spPr>
          <a:xfrm>
            <a:off x="5715000" y="17145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7" name="Line 107"/>
          <p:cNvSpPr/>
          <p:nvPr/>
        </p:nvSpPr>
        <p:spPr>
          <a:xfrm>
            <a:off x="7572375" y="857250"/>
            <a:ext cx="9525" cy="1162050"/>
          </a:xfrm>
          <a:custGeom>
            <a:avLst/>
            <a:gdLst/>
            <a:ahLst/>
            <a:cxnLst/>
            <a:rect l="l" t="t" r="r" b="b"/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8" name="Line 108"/>
          <p:cNvSpPr/>
          <p:nvPr/>
        </p:nvSpPr>
        <p:spPr>
          <a:xfrm>
            <a:off x="8858250" y="857250"/>
            <a:ext cx="9525" cy="1162050"/>
          </a:xfrm>
          <a:custGeom>
            <a:avLst/>
            <a:gdLst/>
            <a:ahLst/>
            <a:cxnLst/>
            <a:rect l="l" t="t" r="r" b="b"/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09" name="Line 109"/>
          <p:cNvSpPr/>
          <p:nvPr/>
        </p:nvSpPr>
        <p:spPr>
          <a:xfrm>
            <a:off x="10334625" y="857250"/>
            <a:ext cx="9525" cy="1162050"/>
          </a:xfrm>
          <a:custGeom>
            <a:avLst/>
            <a:gdLst/>
            <a:ahLst/>
            <a:cxnLst/>
            <a:rect l="l" t="t" r="r" b="b"/>
            <a:pathLst>
              <a:path w="9525" h="1162050">
                <a:moveTo>
                  <a:pt x="0" y="0"/>
                </a:moveTo>
                <a:lnTo>
                  <a:pt x="0" y="1162050"/>
                </a:lnTo>
              </a:path>
            </a:pathLst>
          </a:custGeom>
          <a:noFill/>
          <a:ln w="9525">
            <a:solidFill>
              <a:srgbClr val="CBD5E0"/>
            </a:solidFill>
          </a:ln>
        </p:spPr>
      </p:sp>
      <p:sp>
        <p:nvSpPr>
          <p:cNvPr id="110" name="Rectangle 110"/>
          <p:cNvSpPr/>
          <p:nvPr/>
        </p:nvSpPr>
        <p:spPr>
          <a:xfrm>
            <a:off x="5715000" y="2095500"/>
            <a:ext cx="6286500" cy="495300"/>
          </a:xfrm>
          <a:prstGeom prst="roundRect">
            <a:avLst>
              <a:gd name="adj" fmla="val 7692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11" name="TextBox 111"/>
          <p:cNvSpPr txBox="1"/>
          <p:nvPr/>
        </p:nvSpPr>
        <p:spPr>
          <a:xfrm>
            <a:off x="7657194" y="2218849"/>
            <a:ext cx="2402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PBJT 10% = 2.6× seluruh laba SPPG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528316" y="2406491"/>
            <a:ext cx="4659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Wajib konfirmasi ke Bapenda dan negosiasi klausul pass-through di kontrak MBG!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703570" y="2722245"/>
            <a:ext cx="2914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PELUANG PENGHEMATAN PAJAK (TAX SAVINGS):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5715000" y="2876550"/>
            <a:ext cx="6191250" cy="45720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9525">
            <a:solidFill>
              <a:srgbClr val="1B3A6B"/>
            </a:solidFill>
          </a:ln>
        </p:spPr>
      </p:sp>
      <p:sp>
        <p:nvSpPr>
          <p:cNvPr id="115" name="Rectangle 115"/>
          <p:cNvSpPr/>
          <p:nvPr/>
        </p:nvSpPr>
        <p:spPr>
          <a:xfrm>
            <a:off x="5715000" y="2876550"/>
            <a:ext cx="47625" cy="45720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5847398" y="2958941"/>
            <a:ext cx="2994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1. Holding Structure: 3 PT SPPG @ omzet Rp4.67M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848350" y="3119438"/>
            <a:ext cx="33599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Setiap SPPG pakai PP 23/2018 tarif 0.5% final (omzet &lt; Rp4.8M)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10382250" y="2933700"/>
            <a:ext cx="1428750" cy="342900"/>
          </a:xfrm>
          <a:prstGeom prst="roundRect">
            <a:avLst>
              <a:gd name="adj" fmla="val 8333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9" name="TextBox 119"/>
          <p:cNvSpPr txBox="1"/>
          <p:nvPr/>
        </p:nvSpPr>
        <p:spPr>
          <a:xfrm>
            <a:off x="10917454" y="3014662"/>
            <a:ext cx="3583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Hemat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0646505" y="3139916"/>
            <a:ext cx="9002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63.5 jt/thn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5715000" y="3390900"/>
            <a:ext cx="6191250" cy="45720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9525">
            <a:solidFill>
              <a:srgbClr val="1B3A6B"/>
            </a:solidFill>
          </a:ln>
        </p:spPr>
      </p:sp>
      <p:sp>
        <p:nvSpPr>
          <p:cNvPr id="122" name="Rectangle 122"/>
          <p:cNvSpPr/>
          <p:nvPr/>
        </p:nvSpPr>
        <p:spPr>
          <a:xfrm>
            <a:off x="5715000" y="3390900"/>
            <a:ext cx="47625" cy="45720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23" name="TextBox 123"/>
          <p:cNvSpPr txBox="1"/>
          <p:nvPr/>
        </p:nvSpPr>
        <p:spPr>
          <a:xfrm>
            <a:off x="5847398" y="3473291"/>
            <a:ext cx="31711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2. Percepat Restitusi PPh 23 – Permohonan Tahunan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5848350" y="3633788"/>
            <a:ext cx="32449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Rp148.2jt/thn "terkunci" di DJP → cash kembali dalam 12 bulan</a:t>
            </a:r>
          </a:p>
        </p:txBody>
      </p:sp>
      <p:sp>
        <p:nvSpPr>
          <p:cNvPr id="125" name="Rectangle 125"/>
          <p:cNvSpPr/>
          <p:nvPr/>
        </p:nvSpPr>
        <p:spPr>
          <a:xfrm>
            <a:off x="10382250" y="3448050"/>
            <a:ext cx="1428750" cy="342900"/>
          </a:xfrm>
          <a:prstGeom prst="roundRect">
            <a:avLst>
              <a:gd name="adj" fmla="val 8333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26" name="TextBox 126"/>
          <p:cNvSpPr txBox="1"/>
          <p:nvPr/>
        </p:nvSpPr>
        <p:spPr>
          <a:xfrm>
            <a:off x="10911703" y="3529012"/>
            <a:ext cx="3698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Unlock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0697111" y="3654266"/>
            <a:ext cx="7990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148 jt/thn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5715000" y="3905250"/>
            <a:ext cx="6191250" cy="45720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9525">
            <a:solidFill>
              <a:srgbClr val="1B3A6B"/>
            </a:solidFill>
          </a:ln>
        </p:spPr>
      </p:sp>
      <p:sp>
        <p:nvSpPr>
          <p:cNvPr id="129" name="Rectangle 129"/>
          <p:cNvSpPr/>
          <p:nvPr/>
        </p:nvSpPr>
        <p:spPr>
          <a:xfrm>
            <a:off x="5715000" y="3905250"/>
            <a:ext cx="47625" cy="4572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30" name="TextBox 130"/>
          <p:cNvSpPr txBox="1"/>
          <p:nvPr/>
        </p:nvSpPr>
        <p:spPr>
          <a:xfrm>
            <a:off x="5847398" y="3987641"/>
            <a:ext cx="33609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3. Negosiasi Klausul PBJT Pass-Through ke Kontrak BGN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848350" y="4148138"/>
            <a:ext cx="33873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PBJT jika applicable → dimasukkan dalam struktur harga kontrak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10382250" y="3962400"/>
            <a:ext cx="1428750" cy="342900"/>
          </a:xfrm>
          <a:prstGeom prst="roundRect">
            <a:avLst>
              <a:gd name="adj" fmla="val 8333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33" name="TextBox 133"/>
          <p:cNvSpPr txBox="1"/>
          <p:nvPr/>
        </p:nvSpPr>
        <p:spPr>
          <a:xfrm>
            <a:off x="10862822" y="4043362"/>
            <a:ext cx="4676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Lindungi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703437" y="4168616"/>
            <a:ext cx="786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1.4 M/thn</a:t>
            </a:r>
          </a:p>
        </p:txBody>
      </p:sp>
      <p:sp>
        <p:nvSpPr>
          <p:cNvPr id="135" name="Rectangle 135"/>
          <p:cNvSpPr/>
          <p:nvPr/>
        </p:nvSpPr>
        <p:spPr>
          <a:xfrm>
            <a:off x="5715000" y="4419600"/>
            <a:ext cx="6191250" cy="45720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9525">
            <a:solidFill>
              <a:srgbClr val="1B3A6B"/>
            </a:solidFill>
          </a:ln>
        </p:spPr>
      </p:sp>
      <p:sp>
        <p:nvSpPr>
          <p:cNvPr id="136" name="Rectangle 136"/>
          <p:cNvSpPr/>
          <p:nvPr/>
        </p:nvSpPr>
        <p:spPr>
          <a:xfrm>
            <a:off x="5715000" y="4419600"/>
            <a:ext cx="47625" cy="4572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37" name="TextBox 137"/>
          <p:cNvSpPr txBox="1"/>
          <p:nvPr/>
        </p:nvSpPr>
        <p:spPr>
          <a:xfrm>
            <a:off x="5847398" y="4501991"/>
            <a:ext cx="27536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4. Maksimalkan CAPEX Deductible – Tax Shield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848350" y="4662488"/>
            <a:ext cx="36392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Depresiasi dipercepat (GL/SM) → naikkan biaya fiskal → turunkan PKP</a:t>
            </a:r>
          </a:p>
        </p:txBody>
      </p:sp>
      <p:sp>
        <p:nvSpPr>
          <p:cNvPr id="139" name="Rectangle 139"/>
          <p:cNvSpPr/>
          <p:nvPr/>
        </p:nvSpPr>
        <p:spPr>
          <a:xfrm>
            <a:off x="10382250" y="4476750"/>
            <a:ext cx="1428750" cy="342900"/>
          </a:xfrm>
          <a:prstGeom prst="roundRect">
            <a:avLst>
              <a:gd name="adj" fmla="val 8333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10813941" y="4557712"/>
            <a:ext cx="5653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Tax Shield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0646505" y="4682966"/>
            <a:ext cx="9002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49.2 jt/thn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190500" y="5000625"/>
            <a:ext cx="11811000" cy="1238250"/>
          </a:xfrm>
          <a:prstGeom prst="roundRect">
            <a:avLst>
              <a:gd name="adj" fmla="val 3846"/>
            </a:avLst>
          </a:prstGeom>
          <a:solidFill>
            <a:srgbClr val="1B3A6B">
              <a:alpha val="5000"/>
            </a:srgbClr>
          </a:solidFill>
          <a:ln w="14288">
            <a:solidFill>
              <a:srgbClr val="1B3A6B"/>
            </a:solidFill>
          </a:ln>
        </p:spPr>
      </p:sp>
      <p:sp>
        <p:nvSpPr>
          <p:cNvPr id="143" name="Rectangle 143"/>
          <p:cNvSpPr/>
          <p:nvPr/>
        </p:nvSpPr>
        <p:spPr>
          <a:xfrm>
            <a:off x="190500" y="500062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44" name="TextBox 144"/>
          <p:cNvSpPr txBox="1"/>
          <p:nvPr/>
        </p:nvSpPr>
        <p:spPr>
          <a:xfrm>
            <a:off x="4461340" y="5104924"/>
            <a:ext cx="3269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RINGKASAN PELUANG PENGHEMATAN PAJAK TOTAL</a:t>
            </a:r>
          </a:p>
        </p:txBody>
      </p:sp>
      <p:sp>
        <p:nvSpPr>
          <p:cNvPr id="145" name="Rectangle 145"/>
          <p:cNvSpPr/>
          <p:nvPr/>
        </p:nvSpPr>
        <p:spPr>
          <a:xfrm>
            <a:off x="342900" y="5295900"/>
            <a:ext cx="2667000" cy="514350"/>
          </a:xfrm>
          <a:prstGeom prst="roundRect">
            <a:avLst>
              <a:gd name="adj" fmla="val 740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46" name="TextBox 146"/>
          <p:cNvSpPr txBox="1"/>
          <p:nvPr/>
        </p:nvSpPr>
        <p:spPr>
          <a:xfrm>
            <a:off x="1162872" y="5397341"/>
            <a:ext cx="10270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Holding PP23/2018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858000" y="5534025"/>
            <a:ext cx="163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63.5 jt/thn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152049" y="5748338"/>
            <a:ext cx="10487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6F6D5"/>
                </a:solidFill>
                <a:latin typeface="Inter"/>
                <a:ea typeface="Microsoft YaHei"/>
                <a:cs typeface="Inter"/>
              </a:rPr>
              <a:t>vs tarif normal 22%</a:t>
            </a:r>
          </a:p>
        </p:txBody>
      </p:sp>
      <p:sp>
        <p:nvSpPr>
          <p:cNvPr id="149" name="Rectangle 149"/>
          <p:cNvSpPr/>
          <p:nvPr/>
        </p:nvSpPr>
        <p:spPr>
          <a:xfrm>
            <a:off x="3143250" y="5295900"/>
            <a:ext cx="2667000" cy="514350"/>
          </a:xfrm>
          <a:prstGeom prst="roundRect">
            <a:avLst>
              <a:gd name="adj" fmla="val 7407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50" name="TextBox 150"/>
          <p:cNvSpPr txBox="1"/>
          <p:nvPr/>
        </p:nvSpPr>
        <p:spPr>
          <a:xfrm>
            <a:off x="3996357" y="5397341"/>
            <a:ext cx="9607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Restitusi PPh 23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3750362" y="5534025"/>
            <a:ext cx="14527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148 jt/thn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070152" y="5748338"/>
            <a:ext cx="8131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6F6D5"/>
                </a:solidFill>
                <a:latin typeface="Inter"/>
                <a:ea typeface="Microsoft YaHei"/>
                <a:cs typeface="Inter"/>
              </a:rPr>
              <a:t>unlock dari DJP</a:t>
            </a:r>
          </a:p>
        </p:txBody>
      </p:sp>
      <p:sp>
        <p:nvSpPr>
          <p:cNvPr id="153" name="Rectangle 153"/>
          <p:cNvSpPr/>
          <p:nvPr/>
        </p:nvSpPr>
        <p:spPr>
          <a:xfrm>
            <a:off x="5943600" y="5295900"/>
            <a:ext cx="2667000" cy="514350"/>
          </a:xfrm>
          <a:prstGeom prst="roundRect">
            <a:avLst>
              <a:gd name="adj" fmla="val 7407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54" name="TextBox 154"/>
          <p:cNvSpPr txBox="1"/>
          <p:nvPr/>
        </p:nvSpPr>
        <p:spPr>
          <a:xfrm>
            <a:off x="6718387" y="539734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PBJT Pass-Through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562213" y="5534025"/>
            <a:ext cx="14297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1.4 M/thn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6676072" y="5748338"/>
            <a:ext cx="120205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protected via kontrak</a:t>
            </a:r>
          </a:p>
        </p:txBody>
      </p:sp>
      <p:sp>
        <p:nvSpPr>
          <p:cNvPr id="157" name="Rectangle 157"/>
          <p:cNvSpPr/>
          <p:nvPr/>
        </p:nvSpPr>
        <p:spPr>
          <a:xfrm>
            <a:off x="8743950" y="5295900"/>
            <a:ext cx="3143250" cy="514350"/>
          </a:xfrm>
          <a:prstGeom prst="roundRect">
            <a:avLst>
              <a:gd name="adj" fmla="val 7407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58" name="TextBox 158"/>
          <p:cNvSpPr txBox="1"/>
          <p:nvPr/>
        </p:nvSpPr>
        <p:spPr>
          <a:xfrm>
            <a:off x="9645408" y="5397341"/>
            <a:ext cx="13403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TOTAL POTENSI SAVINGS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9263516" y="5517832"/>
            <a:ext cx="21041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Rp 211.5 jt + PBJT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9539288" y="576738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C8181"/>
                </a:solidFill>
                <a:latin typeface="Inter"/>
                <a:ea typeface="Microsoft YaHei"/>
                <a:cs typeface="Inter"/>
              </a:rPr>
              <a:t>jika semua diimplementasikan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2422890" y="6083141"/>
            <a:ext cx="73462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Tanpa strategi pajak yang tepat, Cash ETR 52.2% = SPPG bekerja lebih dari setengah waktu hanya untuk membayar pajak!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63" name="TextBox 163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1584543" y="66817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912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"/>
            <a:ext cx="57150" cy="59817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231458"/>
            <a:ext cx="5874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ACTION PLAN &amp; REKOMENDASI FINAL SPPG MBG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3904" y="304324"/>
            <a:ext cx="7794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FINAL SLIDE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" y="685800"/>
            <a:ext cx="3752850" cy="209550"/>
          </a:xfrm>
          <a:prstGeom prst="roundRect">
            <a:avLst>
              <a:gd name="adj" fmla="val 13636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78638" y="739616"/>
            <a:ext cx="25765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PRE-OPERASIONAL (Sebelum Hari Pertama)</a:t>
            </a:r>
          </a:p>
        </p:txBody>
      </p:sp>
      <p:sp>
        <p:nvSpPr>
          <p:cNvPr id="9" name="Rectangle 9"/>
          <p:cNvSpPr/>
          <p:nvPr/>
        </p:nvSpPr>
        <p:spPr>
          <a:xfrm>
            <a:off x="190500" y="9334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66700" y="100965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1B3A6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28625" y="1052512"/>
            <a:ext cx="32797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Registrasi NPWP + aktivasi Coretax + sertifikat elektronik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" y="1257300"/>
            <a:ext cx="37528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66700" y="133350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1B3A6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28625" y="1376362"/>
            <a:ext cx="294041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Konfirmasi PBJT ke Bapenda (permohonan tertulis) ⚠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90500" y="15811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66700" y="165735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1B3A6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28625" y="1700212"/>
            <a:ext cx="28426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Review Perda PBJT bersama konsultan pajak daerah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90500" y="1905000"/>
            <a:ext cx="37528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266700" y="198120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1B3A6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28625" y="2024062"/>
            <a:ext cx="32739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Setup e-Bupot 23 untuk potong PPh ke penyedia bahan baku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90500" y="22288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266700" y="230505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1B3A6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28625" y="2347912"/>
            <a:ext cx="30784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4A017"/>
                </a:solidFill>
                <a:latin typeface="Inter"/>
                <a:ea typeface="Microsoft YaHei"/>
                <a:cs typeface="Inter"/>
              </a:rPr>
              <a:t>Negosiasi klausul PBJT pass-through dalam kontrak BGN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" y="2552700"/>
            <a:ext cx="37528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66700" y="262890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27674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28625" y="2671762"/>
            <a:ext cx="31646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Pilih struktur: PT Tunggal vs Holding 3 SPPG (PP 23/2018)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90500" y="28765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266700" y="2952750"/>
            <a:ext cx="95250" cy="95250"/>
          </a:xfrm>
          <a:prstGeom prst="roundRect">
            <a:avLst>
              <a:gd name="adj" fmla="val 20000"/>
            </a:avLst>
          </a:prstGeom>
          <a:noFill/>
          <a:ln w="14288">
            <a:solidFill>
              <a:srgbClr val="27674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28625" y="2995612"/>
            <a:ext cx="32969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Siapkan template rekap PPh 23 dipotong dari mitra kontrak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90500" y="933450"/>
            <a:ext cx="3752850" cy="226695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31" name="Line 31"/>
          <p:cNvSpPr/>
          <p:nvPr/>
        </p:nvSpPr>
        <p:spPr>
          <a:xfrm>
            <a:off x="190500" y="12573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32" name="Line 32"/>
          <p:cNvSpPr/>
          <p:nvPr/>
        </p:nvSpPr>
        <p:spPr>
          <a:xfrm>
            <a:off x="190500" y="15811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33" name="Line 33"/>
          <p:cNvSpPr/>
          <p:nvPr/>
        </p:nvSpPr>
        <p:spPr>
          <a:xfrm>
            <a:off x="190500" y="19050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34" name="Line 34"/>
          <p:cNvSpPr/>
          <p:nvPr/>
        </p:nvSpPr>
        <p:spPr>
          <a:xfrm>
            <a:off x="190500" y="22288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35" name="Line 35"/>
          <p:cNvSpPr/>
          <p:nvPr/>
        </p:nvSpPr>
        <p:spPr>
          <a:xfrm>
            <a:off x="190500" y="25527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36" name="Line 36"/>
          <p:cNvSpPr/>
          <p:nvPr/>
        </p:nvSpPr>
        <p:spPr>
          <a:xfrm>
            <a:off x="190500" y="28765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4038600" y="685800"/>
            <a:ext cx="3752850" cy="209550"/>
          </a:xfrm>
          <a:prstGeom prst="roundRect">
            <a:avLst>
              <a:gd name="adj" fmla="val 13636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528688" y="739616"/>
            <a:ext cx="27726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DISIPLIN BULANAN (Setiap Bulan Tanpa Kecuali)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038600" y="9334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114800" y="1009650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180384" y="1060609"/>
            <a:ext cx="3069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10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19625" y="1052512"/>
            <a:ext cx="27736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Setor PPh 21/23/4(2) masa sebelumnya via MPN G3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038600" y="1257300"/>
            <a:ext cx="37528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114800" y="1333500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180384" y="1384459"/>
            <a:ext cx="3069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15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19625" y="1376362"/>
            <a:ext cx="23423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Bayar Angsuran PPh 25 via MPN G3 Coretax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038600" y="15811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4114800" y="1657350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167445" y="1708309"/>
            <a:ext cx="33285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20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619625" y="1700212"/>
            <a:ext cx="30439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Lapor 6 SPT Masa via Coretax (jangan mepet deadline!)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038600" y="1905000"/>
            <a:ext cx="37528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4114800" y="1981200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167445" y="2032159"/>
            <a:ext cx="33285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TGL 20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619625" y="2024062"/>
            <a:ext cx="28369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Bayar SPTPD PBJT ke Bapenda (jika PBJT applicable)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038600" y="2228850"/>
            <a:ext cx="375285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4114800" y="23241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C528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276725" y="2347912"/>
            <a:ext cx="30956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Rekonsiliasi e-Bupot dari mitra – koordinasi akhir bulan</a:t>
            </a:r>
          </a:p>
        </p:txBody>
      </p:sp>
      <p:sp>
        <p:nvSpPr>
          <p:cNvPr id="58" name="Rectangle 58"/>
          <p:cNvSpPr/>
          <p:nvPr/>
        </p:nvSpPr>
        <p:spPr>
          <a:xfrm>
            <a:off x="4038600" y="2552700"/>
            <a:ext cx="375285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4114800" y="26479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4276725" y="2671762"/>
            <a:ext cx="3619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Review saldo kas pajak: deteksi dini keterlambatan / kekurangan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038600" y="933450"/>
            <a:ext cx="3752850" cy="194310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62" name="Line 62"/>
          <p:cNvSpPr/>
          <p:nvPr/>
        </p:nvSpPr>
        <p:spPr>
          <a:xfrm>
            <a:off x="4038600" y="12573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63" name="Line 63"/>
          <p:cNvSpPr/>
          <p:nvPr/>
        </p:nvSpPr>
        <p:spPr>
          <a:xfrm>
            <a:off x="4038600" y="15811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64" name="Line 64"/>
          <p:cNvSpPr/>
          <p:nvPr/>
        </p:nvSpPr>
        <p:spPr>
          <a:xfrm>
            <a:off x="4038600" y="19050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65" name="Line 65"/>
          <p:cNvSpPr/>
          <p:nvPr/>
        </p:nvSpPr>
        <p:spPr>
          <a:xfrm>
            <a:off x="4038600" y="22288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66" name="Line 66"/>
          <p:cNvSpPr/>
          <p:nvPr/>
        </p:nvSpPr>
        <p:spPr>
          <a:xfrm>
            <a:off x="4038600" y="25527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7886700" y="685800"/>
            <a:ext cx="4114800" cy="209550"/>
          </a:xfrm>
          <a:prstGeom prst="roundRect">
            <a:avLst>
              <a:gd name="adj" fmla="val 13636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621021" y="739616"/>
            <a:ext cx="26461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STRATEGI TAHUNAN (Agenda Wajib per Tahun)</a:t>
            </a:r>
          </a:p>
        </p:txBody>
      </p:sp>
      <p:sp>
        <p:nvSpPr>
          <p:cNvPr id="69" name="Rectangle 69"/>
          <p:cNvSpPr/>
          <p:nvPr/>
        </p:nvSpPr>
        <p:spPr>
          <a:xfrm>
            <a:off x="7886700" y="933450"/>
            <a:ext cx="4114800" cy="323850"/>
          </a:xfrm>
          <a:prstGeom prst="rect">
            <a:avLst/>
          </a:prstGeom>
          <a:solidFill>
            <a:srgbClr val="E6FFF0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7962900" y="1028700"/>
            <a:ext cx="438150" cy="152400"/>
          </a:xfrm>
          <a:prstGeom prst="roundRect">
            <a:avLst>
              <a:gd name="adj" fmla="val 1875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994933" y="1078230"/>
            <a:ext cx="37408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30 APRIL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467725" y="1052512"/>
            <a:ext cx="21640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SPT Tahunan PPh Badan 1771 via Coretax</a:t>
            </a:r>
          </a:p>
        </p:txBody>
      </p:sp>
      <p:sp>
        <p:nvSpPr>
          <p:cNvPr id="73" name="Rectangle 73"/>
          <p:cNvSpPr/>
          <p:nvPr/>
        </p:nvSpPr>
        <p:spPr>
          <a:xfrm>
            <a:off x="7886700" y="1257300"/>
            <a:ext cx="41148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7962900" y="1352550"/>
            <a:ext cx="438150" cy="152400"/>
          </a:xfrm>
          <a:prstGeom prst="roundRect">
            <a:avLst>
              <a:gd name="adj" fmla="val 1875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7994933" y="1402080"/>
            <a:ext cx="37408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30 APRIL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467725" y="1376362"/>
            <a:ext cx="30266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Siapkan TP Documentation (jika ada transaksi afiliasi)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886700" y="1581150"/>
            <a:ext cx="411480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78" name="Rectangle 78"/>
          <p:cNvSpPr/>
          <p:nvPr/>
        </p:nvSpPr>
        <p:spPr>
          <a:xfrm>
            <a:off x="7962900" y="1676400"/>
            <a:ext cx="438150" cy="152400"/>
          </a:xfrm>
          <a:prstGeom prst="roundRect">
            <a:avLst>
              <a:gd name="adj" fmla="val 1875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7999533" y="1725930"/>
            <a:ext cx="364884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APR-MEI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467725" y="1700212"/>
            <a:ext cx="28714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Ajukan restitusi PPh 23 overcredit (±Rp 148 jt/thn)</a:t>
            </a:r>
          </a:p>
        </p:txBody>
      </p:sp>
      <p:sp>
        <p:nvSpPr>
          <p:cNvPr id="81" name="Rectangle 81"/>
          <p:cNvSpPr/>
          <p:nvPr/>
        </p:nvSpPr>
        <p:spPr>
          <a:xfrm>
            <a:off x="7886700" y="1905000"/>
            <a:ext cx="41148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2" name="Rectangle 82"/>
          <p:cNvSpPr/>
          <p:nvPr/>
        </p:nvSpPr>
        <p:spPr>
          <a:xfrm>
            <a:off x="7962900" y="20002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8124825" y="2024062"/>
            <a:ext cx="3066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Evaluasi ulang holding structure (efisiensi PP 23/2018)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886700" y="2228850"/>
            <a:ext cx="4114800" cy="323850"/>
          </a:xfrm>
          <a:prstGeom prst="rect">
            <a:avLst/>
          </a:prstGeom>
          <a:solidFill>
            <a:srgbClr val="EEF2F8"/>
          </a:solidFill>
          <a:ln>
            <a:noFill/>
          </a:ln>
        </p:spPr>
      </p:sp>
      <p:sp>
        <p:nvSpPr>
          <p:cNvPr id="85" name="Rectangle 85"/>
          <p:cNvSpPr/>
          <p:nvPr/>
        </p:nvSpPr>
        <p:spPr>
          <a:xfrm>
            <a:off x="7962900" y="23241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8124825" y="2347912"/>
            <a:ext cx="32567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Review kontrak BGN: pastikan PBJT ter-cover dalam harga</a:t>
            </a:r>
          </a:p>
        </p:txBody>
      </p:sp>
      <p:sp>
        <p:nvSpPr>
          <p:cNvPr id="87" name="Rectangle 87"/>
          <p:cNvSpPr/>
          <p:nvPr/>
        </p:nvSpPr>
        <p:spPr>
          <a:xfrm>
            <a:off x="7886700" y="2552700"/>
            <a:ext cx="41148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8" name="Rectangle 88"/>
          <p:cNvSpPr/>
          <p:nvPr/>
        </p:nvSpPr>
        <p:spPr>
          <a:xfrm>
            <a:off x="7962900" y="26479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8124825" y="2671762"/>
            <a:ext cx="33717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Audit internal PPh 21 TER: pastikan golongan karyawan tepat</a:t>
            </a:r>
          </a:p>
        </p:txBody>
      </p:sp>
      <p:sp>
        <p:nvSpPr>
          <p:cNvPr id="90" name="Rectangle 90"/>
          <p:cNvSpPr/>
          <p:nvPr/>
        </p:nvSpPr>
        <p:spPr>
          <a:xfrm>
            <a:off x="7886700" y="933450"/>
            <a:ext cx="4114800" cy="1943100"/>
          </a:xfrm>
          <a:prstGeom prst="rect">
            <a:avLst/>
          </a:prstGeom>
          <a:noFill/>
          <a:ln w="9525">
            <a:solidFill>
              <a:srgbClr val="CBD5E0"/>
            </a:solidFill>
          </a:ln>
        </p:spPr>
      </p:sp>
      <p:sp>
        <p:nvSpPr>
          <p:cNvPr id="91" name="Line 91"/>
          <p:cNvSpPr/>
          <p:nvPr/>
        </p:nvSpPr>
        <p:spPr>
          <a:xfrm>
            <a:off x="7886700" y="125730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92" name="Line 92"/>
          <p:cNvSpPr/>
          <p:nvPr/>
        </p:nvSpPr>
        <p:spPr>
          <a:xfrm>
            <a:off x="7886700" y="15811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93" name="Line 93"/>
          <p:cNvSpPr/>
          <p:nvPr/>
        </p:nvSpPr>
        <p:spPr>
          <a:xfrm>
            <a:off x="7886700" y="190500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94" name="Line 94"/>
          <p:cNvSpPr/>
          <p:nvPr/>
        </p:nvSpPr>
        <p:spPr>
          <a:xfrm>
            <a:off x="7886700" y="22288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95" name="Line 95"/>
          <p:cNvSpPr/>
          <p:nvPr/>
        </p:nvSpPr>
        <p:spPr>
          <a:xfrm>
            <a:off x="7886700" y="255270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4762">
            <a:solidFill>
              <a:srgbClr val="CBD5E0"/>
            </a:solidFill>
          </a:ln>
        </p:spPr>
      </p:sp>
      <p:sp>
        <p:nvSpPr>
          <p:cNvPr id="96" name="Rectangle 96"/>
          <p:cNvSpPr/>
          <p:nvPr/>
        </p:nvSpPr>
        <p:spPr>
          <a:xfrm>
            <a:off x="190500" y="3314700"/>
            <a:ext cx="3790950" cy="2838450"/>
          </a:xfrm>
          <a:prstGeom prst="roundRect">
            <a:avLst>
              <a:gd name="adj" fmla="val 2013"/>
            </a:avLst>
          </a:prstGeom>
          <a:solidFill>
            <a:srgbClr val="FFF5F5"/>
          </a:solidFill>
          <a:ln w="23812">
            <a:solidFill>
              <a:srgbClr val="C53030"/>
            </a:solidFill>
          </a:ln>
        </p:spPr>
      </p:sp>
      <p:sp>
        <p:nvSpPr>
          <p:cNvPr id="97" name="Rectangle 97"/>
          <p:cNvSpPr/>
          <p:nvPr/>
        </p:nvSpPr>
        <p:spPr>
          <a:xfrm>
            <a:off x="190500" y="3314700"/>
            <a:ext cx="3790950" cy="7620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1364599" y="3549491"/>
            <a:ext cx="14427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REKOMENDASI #1 – URGENT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509860" y="3740468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KONFIRMASI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81944" y="3950018"/>
            <a:ext cx="22080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STATUS PBJT SEKARANG</a:t>
            </a:r>
          </a:p>
        </p:txBody>
      </p:sp>
      <p:sp>
        <p:nvSpPr>
          <p:cNvPr id="101" name="Line 101"/>
          <p:cNvSpPr/>
          <p:nvPr/>
        </p:nvSpPr>
        <p:spPr>
          <a:xfrm>
            <a:off x="381000" y="419100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4762">
            <a:solidFill>
              <a:srgbClr val="C53030">
                <a:alpha val="40000"/>
              </a:srgbClr>
            </a:solidFill>
          </a:ln>
        </p:spPr>
      </p:sp>
      <p:sp>
        <p:nvSpPr>
          <p:cNvPr id="102" name="TextBox 102"/>
          <p:cNvSpPr txBox="1"/>
          <p:nvPr/>
        </p:nvSpPr>
        <p:spPr>
          <a:xfrm>
            <a:off x="371475" y="4300538"/>
            <a:ext cx="26808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Eksposur: Rp 1,4 miliar/tahun — melampaui seluruh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71475" y="4443412"/>
            <a:ext cx="28122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laba bersih SPPG. Tanpa konfirmasi Bapenda, operasi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71475" y="4586288"/>
            <a:ext cx="27629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berisiko dihentikan akibat tunggakan PBJT + sanksi.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381000" y="4800600"/>
            <a:ext cx="3409950" cy="342900"/>
          </a:xfrm>
          <a:prstGeom prst="roundRect">
            <a:avLst>
              <a:gd name="adj" fmla="val 11111"/>
            </a:avLst>
          </a:prstGeom>
          <a:solidFill>
            <a:srgbClr val="C53030"/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883086" y="4873466"/>
            <a:ext cx="2405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ACTION: Ajukan surat ruling ke Bapenda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73597" y="5006816"/>
            <a:ext cx="2424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SEBELUM hari pertama operasional SPPG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85133" y="5154930"/>
            <a:ext cx="20016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Rp 1,4 M/thn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356241" y="546258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eksposur jika tidak dikelola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82538" y="5653088"/>
            <a:ext cx="26068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C53030"/>
                </a:solidFill>
                <a:latin typeface="Inter"/>
                <a:ea typeface="Microsoft YaHei"/>
                <a:cs typeface="Inter"/>
              </a:rPr>
              <a:t>Jika exempt → Rp 0 exposure. Selisih: Rp 1,4 M!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45569" y="5881688"/>
            <a:ext cx="26808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Prioritas nomor 1 sebelum SPPG mulai berproduksi.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26494" y="6015038"/>
            <a:ext cx="31189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Negosiasi kontrak harus cover klausul PBJT pass-through.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4114800" y="3314700"/>
            <a:ext cx="3790950" cy="2838450"/>
          </a:xfrm>
          <a:prstGeom prst="roundRect">
            <a:avLst>
              <a:gd name="adj" fmla="val 2013"/>
            </a:avLst>
          </a:prstGeom>
          <a:solidFill>
            <a:srgbClr val="F0FFF4"/>
          </a:solidFill>
          <a:ln w="19050">
            <a:solidFill>
              <a:srgbClr val="276749"/>
            </a:solidFill>
          </a:ln>
        </p:spPr>
      </p:sp>
      <p:sp>
        <p:nvSpPr>
          <p:cNvPr id="114" name="Rectangle 114"/>
          <p:cNvSpPr/>
          <p:nvPr/>
        </p:nvSpPr>
        <p:spPr>
          <a:xfrm>
            <a:off x="4114800" y="3314700"/>
            <a:ext cx="3790950" cy="76200"/>
          </a:xfrm>
          <a:prstGeom prst="roundRect">
            <a:avLst>
              <a:gd name="adj" fmla="val 50000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5044904" y="3549491"/>
            <a:ext cx="19307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REKOMENDASI #2 – CASH RECOVERY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185729" y="3740468"/>
            <a:ext cx="16490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RESTITUSI PPh 23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361701" y="3950018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SETIAP TAHUN</a:t>
            </a:r>
          </a:p>
        </p:txBody>
      </p:sp>
      <p:sp>
        <p:nvSpPr>
          <p:cNvPr id="118" name="Line 118"/>
          <p:cNvSpPr/>
          <p:nvPr/>
        </p:nvSpPr>
        <p:spPr>
          <a:xfrm>
            <a:off x="4305300" y="4191000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</a:path>
            </a:pathLst>
          </a:custGeom>
          <a:noFill/>
          <a:ln w="4762">
            <a:solidFill>
              <a:srgbClr val="276749">
                <a:alpha val="40000"/>
              </a:srgbClr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4295775" y="4300538"/>
            <a:ext cx="25712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PPh 23 dipotong mitra Rp281.7jt/thn &gt; PPh Badan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295775" y="4443412"/>
            <a:ext cx="26534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Rp133.5jt. Selisih Rp148.2jt terkunci di DJP setiap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295775" y="4586288"/>
            <a:ext cx="30313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tahun jika tidak diajukan restitusi atau pemindahbukuan.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4305300" y="4800600"/>
            <a:ext cx="3409950" cy="342900"/>
          </a:xfrm>
          <a:prstGeom prst="roundRect">
            <a:avLst>
              <a:gd name="adj" fmla="val 11111"/>
            </a:avLst>
          </a:prstGeom>
          <a:solidFill>
            <a:srgbClr val="276749"/>
          </a:solidFill>
          <a:ln>
            <a:noFill/>
          </a:ln>
        </p:spPr>
      </p:sp>
      <p:sp>
        <p:nvSpPr>
          <p:cNvPr id="123" name="TextBox 123"/>
          <p:cNvSpPr txBox="1"/>
          <p:nvPr/>
        </p:nvSpPr>
        <p:spPr>
          <a:xfrm>
            <a:off x="4902273" y="4873466"/>
            <a:ext cx="22160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ACTION: Ajukan restitusi bersamaan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978182" y="5006816"/>
            <a:ext cx="20641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SPT Tahunan 30 April setiap tahun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4993331" y="5154930"/>
            <a:ext cx="203388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Rp 148 jt/thn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132665" y="5462588"/>
            <a:ext cx="17552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kembali ke kas SPPG via restitusi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609076" y="5653088"/>
            <a:ext cx="28023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76749"/>
                </a:solidFill>
                <a:latin typeface="Inter"/>
                <a:ea typeface="Microsoft YaHei"/>
                <a:cs typeface="Inter"/>
              </a:rPr>
              <a:t>Cash ETR 52.2% → turun ke 24.7% dengan restitusi!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628793" y="5881688"/>
            <a:ext cx="27629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Proses restitusi 12 bulan; persiapkan bukti e-Bupot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4716423" y="6015038"/>
            <a:ext cx="25877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dari seluruh mitra/penyedia secara menyeluruh.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8039100" y="3314700"/>
            <a:ext cx="3962400" cy="2838450"/>
          </a:xfrm>
          <a:prstGeom prst="roundRect">
            <a:avLst>
              <a:gd name="adj" fmla="val 2013"/>
            </a:avLst>
          </a:prstGeom>
          <a:solidFill>
            <a:srgbClr val="EEF2F8"/>
          </a:solidFill>
          <a:ln w="19050">
            <a:solidFill>
              <a:srgbClr val="1B3A6B"/>
            </a:solidFill>
          </a:ln>
        </p:spPr>
      </p:sp>
      <p:sp>
        <p:nvSpPr>
          <p:cNvPr id="131" name="Rectangle 131"/>
          <p:cNvSpPr/>
          <p:nvPr/>
        </p:nvSpPr>
        <p:spPr>
          <a:xfrm>
            <a:off x="8039100" y="3314700"/>
            <a:ext cx="3962400" cy="7620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32" name="TextBox 132"/>
          <p:cNvSpPr txBox="1"/>
          <p:nvPr/>
        </p:nvSpPr>
        <p:spPr>
          <a:xfrm>
            <a:off x="9199519" y="3549491"/>
            <a:ext cx="1641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REKOMENDASI #3 – STRATEGIC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9066363" y="3740468"/>
            <a:ext cx="1907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HOLDING STRUCTURE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485590" y="3950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PP 23/2018</a:t>
            </a:r>
          </a:p>
        </p:txBody>
      </p:sp>
      <p:sp>
        <p:nvSpPr>
          <p:cNvPr id="135" name="Line 135"/>
          <p:cNvSpPr/>
          <p:nvPr/>
        </p:nvSpPr>
        <p:spPr>
          <a:xfrm>
            <a:off x="8229600" y="419100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4762">
            <a:solidFill>
              <a:srgbClr val="1B3A6B">
                <a:alpha val="40000"/>
              </a:srgbClr>
            </a:solidFill>
          </a:ln>
        </p:spPr>
      </p:sp>
      <p:sp>
        <p:nvSpPr>
          <p:cNvPr id="136" name="TextBox 136"/>
          <p:cNvSpPr txBox="1"/>
          <p:nvPr/>
        </p:nvSpPr>
        <p:spPr>
          <a:xfrm>
            <a:off x="8220075" y="4300538"/>
            <a:ext cx="2647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3 PT SPPG (@omzet &lt; Rp4.8M) di bawah PT Holding.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8220075" y="4443412"/>
            <a:ext cx="26260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Tarif PPh 0.5% final vs 22% normal → penghematan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8220075" y="4586288"/>
            <a:ext cx="29710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Rp63.5jt/thn. Dividen antar anak-induk tidak kena PPh.</a:t>
            </a:r>
          </a:p>
        </p:txBody>
      </p:sp>
      <p:sp>
        <p:nvSpPr>
          <p:cNvPr id="139" name="Rectangle 139"/>
          <p:cNvSpPr/>
          <p:nvPr/>
        </p:nvSpPr>
        <p:spPr>
          <a:xfrm>
            <a:off x="8229600" y="4800600"/>
            <a:ext cx="3581400" cy="342900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8792108" y="4873466"/>
            <a:ext cx="24563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ACTION: Bentuk struktur sebelum tahun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8852203" y="5006816"/>
            <a:ext cx="23361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pajak pertama — tidak bisa retroaktif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874540" y="5154930"/>
            <a:ext cx="2291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Rp 63.5 jt/thn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312473" y="5462588"/>
            <a:ext cx="14156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hemat pajak via PP 23/2018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8837628" y="5653088"/>
            <a:ext cx="23653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B3A6B"/>
                </a:solidFill>
                <a:latin typeface="Inter"/>
                <a:ea typeface="Microsoft YaHei"/>
                <a:cs typeface="Inter"/>
              </a:rPr>
              <a:t>Penghematan 47.5% dari PPh Badan normal!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8677156" y="5881688"/>
            <a:ext cx="26862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Konsultasikan dengan notaris dan konsultan hukum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8871585" y="6015038"/>
            <a:ext cx="22974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Inter"/>
                <a:ea typeface="Microsoft YaHei"/>
                <a:cs typeface="Inter"/>
              </a:rPr>
              <a:t>pajak sebelum pendirian entitas SPPG baru.</a:t>
            </a:r>
          </a:p>
        </p:txBody>
      </p:sp>
      <p:sp>
        <p:nvSpPr>
          <p:cNvPr id="147" name="Rectangle 147"/>
          <p:cNvSpPr/>
          <p:nvPr/>
        </p:nvSpPr>
        <p:spPr>
          <a:xfrm>
            <a:off x="0" y="6600825"/>
            <a:ext cx="12192000" cy="257175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48" name="TextBox 148"/>
          <p:cNvSpPr txBox="1"/>
          <p:nvPr/>
        </p:nvSpPr>
        <p:spPr>
          <a:xfrm>
            <a:off x="4265414" y="6681788"/>
            <a:ext cx="36611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Analisis Pajak &amp; Tax Management MBG 2026 – Confidential Tax Planning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1584543" y="668178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