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98280" y="0"/>
            <a:ext cx="109728" cy="68580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61120" y="4389120"/>
            <a:ext cx="3227832" cy="2468880"/>
          </a:xfrm>
          <a:prstGeom prst="rect">
            <a:avLst/>
          </a:prstGeom>
          <a:solidFill>
            <a:srgbClr val="17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926080" cy="59436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5214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SMOOT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097280"/>
            <a:ext cx="3474720" cy="594360"/>
          </a:xfrm>
          <a:prstGeom prst="rect">
            <a:avLst/>
          </a:prstGeom>
          <a:solidFill>
            <a:srgbClr val="00B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15214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1F5B"/>
                </a:solidFill>
                <a:latin typeface="Segoe UI"/>
              </a:rPr>
              <a:t>SWAP ENERGI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egoe UI"/>
              </a:rPr>
              <a:t>UPDATE AR BML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40"/>
            <a:ext cx="5029200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2900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DD8FF"/>
                </a:solidFill>
                <a:latin typeface="Segoe UI"/>
              </a:rPr>
              <a:t>Laporan Accounts Receivable kepada BML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1363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Per 21 Mei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5486400" cy="155448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709160"/>
            <a:ext cx="128016" cy="1554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8280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8FF"/>
                </a:solidFill>
                <a:latin typeface="Segoe UI"/>
              </a:rPr>
              <a:t>TOTAL TAGIHAN AR BML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93792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Rp 3.626.894.700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43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DD8FF"/>
                </a:solidFill>
                <a:latin typeface="Segoe UI"/>
              </a:rPr>
              <a:t>SMOOT Motor  +  SWAP Energi  +  SMOOT After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13716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003A8C"/>
                </a:solidFill>
                <a:latin typeface="Segoe UI"/>
              </a:rPr>
              <a:t>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77ADF"/>
                </a:solidFill>
                <a:latin typeface="Segoe UI"/>
              </a:rPr>
              <a:t>BML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0233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2DE"/>
                </a:solidFill>
                <a:latin typeface="Segoe UI"/>
              </a:rPr>
              <a:t>2 0 2 6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RINGKASAN EKSEKUTIF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AR BML Update  |  21 Mei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3749039" cy="169164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61872"/>
            <a:ext cx="91440" cy="16916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99032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INVOICE AR BML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C518"/>
                </a:solidFill>
                <a:latin typeface="Segoe UI"/>
              </a:rPr>
              <a:t>Rp 3.626.894.700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3 Entitas: Motor · Energi · After 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261872"/>
            <a:ext cx="3749039" cy="16916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1261872"/>
            <a:ext cx="91440" cy="169164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399032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TAGIHAN CUT-OFF APR'26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764792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2DE"/>
                </a:solidFill>
                <a:latin typeface="Segoe UI"/>
              </a:rPr>
              <a:t>Rp 1.976.747.940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3230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Percepatan &amp; End Contract + De Sultan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47888" y="1261872"/>
            <a:ext cx="3749039" cy="1691640"/>
          </a:xfrm>
          <a:prstGeom prst="rect">
            <a:avLst/>
          </a:prstGeom>
          <a:solidFill>
            <a:srgbClr val="17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47888" y="1261872"/>
            <a:ext cx="9144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399032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OUTSTANDING SWAP-BML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764792"/>
            <a:ext cx="35204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Rp 3.688.669.071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3230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BBG De Sultan + BBG Tempur + Sewa Baterai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154680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004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RINCIAN INVOICE AR BML (Total Hutang BML: Rp 3.626.894.700)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84048" y="3584448"/>
          <a:ext cx="113385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4114800"/>
                <a:gridCol w="2651760"/>
              </a:tblGrid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Entitas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No Invoice / Ref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SMOOT MOTOR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SO-2025/11-0216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90 Unit Smoot Zuzu OTR (PO-2511-0010)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1.476.000.000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SWAP ENERGI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SI-2026/04-0064 etc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150 Unit LFP Battery Pack 51.2V 16AH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180.000.000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SMOOT AFTER 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Pool Grab + SC + Maint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Pool Grab / SC / Maintenance / Parts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1.970.894.700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TOTAL HUTANG BML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Rp 3.626.894.700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INVOICE AR BML – SMOOT MOTOR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Penjualan Unit Kendaraan Listrik ke BML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2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3657600" cy="502920"/>
          </a:xfrm>
          <a:prstGeom prst="rect">
            <a:avLst/>
          </a:prstGeom>
          <a:solidFill>
            <a:srgbClr val="0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16736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SMOOT MOTOR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261872"/>
            <a:ext cx="4114800" cy="128016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61872"/>
            <a:ext cx="109728" cy="12801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533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8FF"/>
                </a:solidFill>
                <a:latin typeface="Segoe UI"/>
              </a:rPr>
              <a:t>TOTAL TAGIHAN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C518"/>
                </a:solidFill>
                <a:latin typeface="Segoe UI"/>
              </a:rPr>
              <a:t>Rp 1.476.000.000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1261872"/>
            <a:ext cx="3017520" cy="12801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353312"/>
            <a:ext cx="2788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90 Unit Smoot Zuzu OTR
Electric Motorcycle
PO-2511-0010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889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DETAIL INVOICE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84048" y="3172968"/>
          <a:ext cx="113385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3474720"/>
                <a:gridCol w="1371600"/>
                <a:gridCol w="219456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No. Sales Order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No. PO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Deskripsi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Qty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SO-2025/11-0216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PO-2511-0010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Smoot Zuzu OTR (Unit)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90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1.476.000.000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Rp 1.476.000.000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384048" y="4754880"/>
            <a:ext cx="11393424" cy="10972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4754880"/>
            <a:ext cx="91440" cy="1097280"/>
          </a:xfrm>
          <a:prstGeom prst="rect">
            <a:avLst/>
          </a:prstGeom>
          <a:solidFill>
            <a:srgbClr val="D38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2803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3840A"/>
                </a:solidFill>
                <a:latin typeface="Segoe UI"/>
              </a:rPr>
              <a:t>CATATAN: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138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Segoe UI"/>
              </a:rPr>
              <a:t>Invoice ini merupakan tagihan atas penjualan 90 unit Smoot Zuzu OTR kepada BML.
Status tagihan masih Outstanding (Accounts Receivable) dan menunggu pembayaran dari BML.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INVOICE AR BML – SWAP ENERGI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Penjualan LFP Battery Pack ke BML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3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4114800" cy="502920"/>
          </a:xfrm>
          <a:prstGeom prst="rect">
            <a:avLst/>
          </a:prstGeom>
          <a:solidFill>
            <a:srgbClr val="00B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16736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1F5B"/>
                </a:solidFill>
                <a:latin typeface="Segoe UI"/>
              </a:rPr>
              <a:t>SWAP ENERGI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261872"/>
            <a:ext cx="2377440" cy="100584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3350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8FF"/>
                </a:solidFill>
                <a:latin typeface="Segoe UI"/>
              </a:rPr>
              <a:t>Total Invoice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600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C518"/>
                </a:solidFill>
                <a:latin typeface="Segoe UI"/>
              </a:rPr>
              <a:t>Rp 180.000.000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261872"/>
            <a:ext cx="2377440" cy="10058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048" y="13350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8FF"/>
                </a:solidFill>
                <a:latin typeface="Segoe UI"/>
              </a:rPr>
              <a:t>Total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048" y="1600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2DE"/>
                </a:solidFill>
                <a:latin typeface="Segoe UI"/>
              </a:rPr>
              <a:t>150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261872"/>
            <a:ext cx="2377440" cy="1005840"/>
          </a:xfrm>
          <a:prstGeom prst="rect">
            <a:avLst/>
          </a:prstGeom>
          <a:solidFill>
            <a:srgbClr val="17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8" y="133502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8FF"/>
                </a:solidFill>
                <a:latin typeface="Segoe UI"/>
              </a:rPr>
              <a:t>Jenis Baterai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2368" y="16002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LFP 51.2V 16AH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87168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328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DETAIL INVOICE BATTERY PACK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4048" y="2907792"/>
          <a:ext cx="112471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3840480"/>
                <a:gridCol w="1463040"/>
                <a:gridCol w="21031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No. Sales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No. PO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Deskripsi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Qty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SI-2026/04-0064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PO-2603-0014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LFP Battery Pack Type A &amp; B 51.2V 16AH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75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90.000.000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SI-2026/04-0131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PO-260/3-0015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LFP Battery Pack Type B 51.2V 16AH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63 Unit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75.600.000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SI-2026/05-0035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PO-260/3-0015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LFP Battery Pack Type A 51.2V 16AH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12 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14.400.000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150 Unit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Rp 180.000.000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384048" y="5715000"/>
            <a:ext cx="11393424" cy="822960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5715000"/>
            <a:ext cx="91440" cy="8229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8064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F5B"/>
                </a:solidFill>
                <a:latin typeface="Segoe UI"/>
              </a:rPr>
              <a:t>SPESIFIKASI: LFP Battery Pack 51.2V 16AH (Lithium Iron Phosphate)  |  Type A &amp; Type B  |  Digunakan untuk armada Smoot Tempur &amp; De Sultan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INVOICE AR BML – SMOOT AFTER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Layanan Purna Jual, Maintenance &amp; Sparepart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4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3657600" cy="15544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61872"/>
            <a:ext cx="91440" cy="1554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9903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TOTAL AFTER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C518"/>
                </a:solidFill>
                <a:latin typeface="Segoe UI"/>
              </a:rPr>
              <a:t>Rp 1.970.894.700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5 Kategori Layanan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61872"/>
            <a:ext cx="3950432" cy="25603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298448"/>
            <a:ext cx="6766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Biaya Maintenance  –  Rp 1.135.300.000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1390510" cy="256032"/>
          </a:xfrm>
          <a:prstGeom prst="rect">
            <a:avLst/>
          </a:prstGeom>
          <a:solidFill>
            <a:srgbClr val="17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91056"/>
            <a:ext cx="6766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Pool Grab  –  Rp 399.613.660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47088"/>
            <a:ext cx="1003701" cy="256032"/>
          </a:xfrm>
          <a:prstGeom prst="rect">
            <a:avLst/>
          </a:prstGeom>
          <a:solidFill>
            <a:srgbClr val="00B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883664"/>
            <a:ext cx="6766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  <a:latin typeface="Segoe UI"/>
              </a:rPr>
              <a:t>Service Center  –  Rp 288.450.040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2139696"/>
            <a:ext cx="383010" cy="256032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2176272"/>
            <a:ext cx="6766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Segoe UI"/>
              </a:rPr>
              <a:t>Project End Contract  –  Rp 110.072.000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2432304"/>
            <a:ext cx="130343" cy="256032"/>
          </a:xfrm>
          <a:prstGeom prst="rect">
            <a:avLst/>
          </a:prstGeom>
          <a:solidFill>
            <a:srgbClr val="526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80"/>
            <a:ext cx="6766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Segoe UI"/>
              </a:rPr>
              <a:t>Sparepart  –  Rp 37.459.000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926080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29718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DETAIL INVOICE AFTER SALES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84048" y="3337560"/>
          <a:ext cx="11338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2926080"/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Kategori Layanan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Pool Grab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Pengelolaan pool unit Grab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399.613.660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Service Center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Biaya operasional service center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288.450.040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Biaya 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Biaya pemeliharaan armada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1.135.300.000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Project End Contract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Biaya penyelesaian kontrak project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110.072.000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Sparepart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Suku cadang &amp; komponen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A1A2E"/>
                          </a:solidFill>
                          <a:latin typeface="Segoe UI"/>
                        </a:rPr>
                        <a:t>Rp 37.459.000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TOTAL AFTER SALES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Rp 1.970.894.700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TAGIHAN CUT-OFF APRIL 2026 –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Data Update Tagihan | Status per 1 Mei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5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3749039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3167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SIAP BAYAR  –  Tagihan terverifikasi, siap dibayarkan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5968" y="1261872"/>
            <a:ext cx="3749039" cy="384048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13167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CREDITED  –  Faktur Pajak sudah dikreditkan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1261872"/>
            <a:ext cx="3749039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6" y="131673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CANCELED  –  Faktur Pajak dibatalkan / tidak diakui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10512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5623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RINGKASAN 4 KATEGORI TAGIHAN CUT-OFF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84048" y="2231136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2286000"/>
                <a:gridCol w="2286000"/>
                <a:gridCol w="2377440"/>
              </a:tblGrid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Kategori Tagihan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Jumlah
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Amount (- PPh)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Percepatan End Contract Tempur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8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789.482.640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800.458.740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Siap Bayar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End Contract Tempur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7 inv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17.527.200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17.848.800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Siap Bayar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Rental De Sultan (Grab)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1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1.137.567.600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1.158.440.400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Siap Bayar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Tagihan IDLE (Credited – No.1-5)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5 inv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969.303.060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Proses Cek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Tagihan IDLE (Canceled – No.6-11)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6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1.410.409.290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TIDAK DIAKUI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TOTAL SIAP BAYAR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Rp 1.944.577.440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Rp 1.976.747.940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384048" y="6016752"/>
            <a:ext cx="11393424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6016752"/>
            <a:ext cx="91440" cy="502920"/>
          </a:xfrm>
          <a:prstGeom prst="rect">
            <a:avLst/>
          </a:prstGeom>
          <a:solidFill>
            <a:srgbClr val="D38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0807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  <a:latin typeface="Segoe UI"/>
              </a:rPr>
              <a:t>CATATAN: Tagihan IDLE No.6-11 senilai Rp 1.410.409.290 berstatus CANCELED dan tidak diakui karena tidak sesuai MoM yang berlaku dari hasil meeting.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PERCEPATAN END CONTRACT – UNIT TEMPUR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Sewa Smoot Tempur ex Grab | Cut-Off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6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3474720" cy="13716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61872"/>
            <a:ext cx="91440" cy="13716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9903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TOTAL INVOICE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C518"/>
                </a:solidFill>
                <a:latin typeface="Segoe UI"/>
              </a:rPr>
              <a:t>Rp 800.458.740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8 Invoices | Status: Siap Bayar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41648" y="1261872"/>
            <a:ext cx="3474720" cy="13716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41648" y="1261872"/>
            <a:ext cx="91440" cy="13716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399032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AMOUNT (Net PPh)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1764792"/>
            <a:ext cx="3246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2DE"/>
                </a:solidFill>
                <a:latin typeface="Segoe UI"/>
              </a:rPr>
              <a:t>Rp 789.482.640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32304"/>
            <a:ext cx="3246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Setelah potongan PPh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82127" y="1261872"/>
            <a:ext cx="393192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73568" y="135331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STATUS: SIAP BAYAR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1691640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Segoe UI"/>
              </a:rPr>
              <a:t>Semua Faktur Pajak
Berstatus CREDITED
Update: 1 Mei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346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DETAIL 8 INVOICE PERCEPATAN END CONTRACT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84048" y="3200400"/>
          <a:ext cx="110642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463040"/>
                <a:gridCol w="1097280"/>
                <a:gridCol w="4114800"/>
                <a:gridCol w="2011680"/>
                <a:gridCol w="2011680"/>
              </a:tblGrid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No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Tgl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Amt (- PPh)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INV-2512-0080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Dec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120 unit Tempur ex Grab Surabaya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89.543.500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87.676.680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INV-2601-0019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Jan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128 unit Tempur ex Grab JKT &amp; Surabaya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88.800.120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90.429.480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INV-2601-0133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29 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50 unit Tempur ex Grab Jogja (29-31 Jan)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3.678.750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3.746.250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INV-2602-0037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Feb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170 unit Tempur ex Grab Sub &amp; Jogja Feb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112.099.960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114.156.840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INV-2602-0103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13 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100 unit Tempur ex Grab Surabaya 13-28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38.368.000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39.072.000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INV-2603-0021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Mar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270 unit Tempur ex Grab Sub &amp; Jogja Maret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198.448.670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202.089.930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INV-2603-0093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03 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47 unit Tempur ex Grab Sub 03-31 Maret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32.684.740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33.284.460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INV-2604-0023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Apr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317 unit Tempur ex Grab Surabaya April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225.858.900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230.003.100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Rp 789.482.640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Rp 800.458.740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END CONTRACT TEMPUR &amp; RENTAL DE SULTAN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Tagihan Sewa Unit Grab | Cut-Off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7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075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END CONTRACT GRAB – UNIT TEMPUR  |  Total Invoice: Rp 17.848.800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664208"/>
          <a:ext cx="10241280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463040"/>
                <a:gridCol w="1097280"/>
                <a:gridCol w="5029200"/>
                <a:gridCol w="2286000"/>
              </a:tblGrid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No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Tgl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INV-2509-0032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8 unit Tempur ex Grab – 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1.776.000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INV-2511-0023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Nov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8 unit Tempur ex Grab – Nov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2.664.000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INV-2511-0175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28 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8 unit Tempur ex Grab – Okt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2.752.800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INV-2512-0022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Dec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8 unit Tempur ex Grab – Des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2.752.800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INV-2602-0022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8 unit Tempur JKT – 01-28 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2.486.400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INV-2603-0020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Mar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8 unit Tempur JKT – 01-31 Mar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2.752.800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INV-2604-0021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01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8 unit Tempur JKT – 01-30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0">
                          <a:solidFill>
                            <a:srgbClr val="1A1A2E"/>
                          </a:solidFill>
                          <a:latin typeface="Segoe UI"/>
                        </a:rPr>
                        <a:t>Rp 2.664.000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276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Segoe UI"/>
                        </a:rPr>
                        <a:t>Rp 17.848.800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10149840" y="1664208"/>
            <a:ext cx="1627632" cy="272491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2103120"/>
            <a:ext cx="1463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SIAP
BAYAR
CREDITED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177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RENTAL DE SULTAN GRAB  |  Total Invoice: Rp 1.158.440.400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84048" y="4983480"/>
          <a:ext cx="117043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4572000"/>
                <a:gridCol w="2011680"/>
                <a:gridCol w="2011680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No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Tgl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Amt (- PPh)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Segoe UI"/>
                        </a:rPr>
                        <a:t>INV-2604-0024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Segoe UI"/>
                        </a:rPr>
                        <a:t>01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Segoe UI"/>
                        </a:rPr>
                        <a:t>1.338 unit De Sultan – 01-30 April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2E"/>
                          </a:solidFill>
                          <a:latin typeface="Segoe UI"/>
                        </a:rPr>
                        <a:t>Rp 1.137.567.600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A1A2E"/>
                          </a:solidFill>
                          <a:latin typeface="Segoe UI"/>
                        </a:rPr>
                        <a:t>Rp 1.158.440.400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Rp 1.137.567.600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Rp 1.158.440.400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TAGIHAN IDLE &amp; OVER SLA – UNIT TEMPUR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Pembayaran Sewa Grab Unit Mangkrak | Cut-Off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8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3657600" cy="12344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61872"/>
            <a:ext cx="91440" cy="123444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9903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CREDITED (No.1-5)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2DE"/>
                </a:solidFill>
                <a:latin typeface="Segoe UI"/>
              </a:rPr>
              <a:t>Rp 969.303.060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Masih proses pengecekan Aftersales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261872"/>
            <a:ext cx="3657600" cy="1234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261872"/>
            <a:ext cx="91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99032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CANCELED (No.6-11)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64792"/>
            <a:ext cx="3429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egoe UI"/>
              </a:rPr>
              <a:t>Rp 1.410.409.290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32304"/>
            <a:ext cx="3429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TIDAK DIAKUI – Tidak sesuai MoM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261872"/>
            <a:ext cx="3749039" cy="1234440"/>
          </a:xfrm>
          <a:prstGeom prst="rect">
            <a:avLst/>
          </a:prstGeom>
          <a:solidFill>
            <a:srgbClr val="D38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353312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TOTAL DITAGIHKAN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167335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Segoe UI"/>
              </a:rPr>
              <a:t>Rp 2.379.712.350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2240280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Segoe UI"/>
              </a:rPr>
              <a:t>(11 Invoices)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51760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69748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DETAIL 11 INVOICE TAGIHAN IDLE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84048" y="3063240"/>
          <a:ext cx="92354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463040"/>
                <a:gridCol w="731520"/>
                <a:gridCol w="3200400"/>
                <a:gridCol w="2011680"/>
                <a:gridCol w="1463040"/>
              </a:tblGrid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No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Periode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FP Status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INV-2504-0085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Apr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141 JKT + 88 Bali – Mar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155.444.400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CREDITED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INV-2505-0110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May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127 JKT + 85 Bali – Apr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148.823.250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CREDITED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INV-2506-0106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Jun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168 JKT + 106 Bali – Mei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186.013.800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CREDITED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INV-2507-0139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Jul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158 JKT + 99 Bali – Jun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178.140.570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CREDITED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INV-2601-0176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168 JKT + 106 Bali – Jul 2025 (Cancel)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300.881.040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CREDITED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INV-2508-0176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Aug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212 JKT + 124 Bali – Agu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235.502.040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CANCELED ✗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INV-2509-0170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261 JKT + 154 Bali – 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281.518.200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CANCELED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INV-2510-0148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Oct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265 JKT + 164 Bali – Okt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300.881.040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CANCELED ✗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INV-2511-0151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216 JKT + 116 Bali – 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224.974.800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CANCELED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INV-2512-0148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Dec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213 JKT + 111 Bali – Des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226.796.310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CANCELED ✗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INV-2601-0176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IDLE Januari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140.736.900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CANCELED 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728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Rp 2.379.712.350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9921240" y="3063240"/>
            <a:ext cx="1874519" cy="347472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315468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1F5B"/>
                </a:solidFill>
                <a:latin typeface="Segoe UI"/>
              </a:rPr>
              <a:t>KETERANGAN STATUS: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85248" y="3547872"/>
            <a:ext cx="1600200" cy="9144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361188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CREDITED
FP dikreditkan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85248" y="4645152"/>
            <a:ext cx="1600200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4709160"/>
            <a:ext cx="1463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CANCELED ✗
FP dibatalkan,
tidak diakui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TAGIHAN OUTSTANDING BML – SWAP ENERGI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Tagihan Belum Terbayar | Jun 2025 –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9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4572000" cy="141732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61872"/>
            <a:ext cx="91440" cy="14173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99032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TOTAL OUTSTANDING BML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4343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C518"/>
                </a:solidFill>
                <a:latin typeface="Segoe UI"/>
              </a:rPr>
              <a:t>Rp 3.688.669.071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4343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3 Kategori | Jun 2025 – Apr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261872"/>
            <a:ext cx="2194560" cy="14173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261872"/>
            <a:ext cx="91440" cy="14173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2" y="133502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BBG De Sultan
Rp 10.000/unit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176479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Segoe UI"/>
              </a:rPr>
              <a:t>Rp 1.635.350.001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2377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21 Invoices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43800" y="1261872"/>
            <a:ext cx="2194560" cy="1417320"/>
          </a:xfrm>
          <a:prstGeom prst="rect">
            <a:avLst/>
          </a:prstGeom>
          <a:solidFill>
            <a:srgbClr val="177A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43800" y="1261872"/>
            <a:ext cx="91440" cy="141732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08392" y="133502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BBG Tempur
Rp 11.000/unit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08392" y="176479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DE"/>
                </a:solidFill>
                <a:latin typeface="Segoe UI"/>
              </a:rPr>
              <a:t>Rp 907.898.970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2377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9 Invoices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1261872"/>
            <a:ext cx="2194560" cy="1417320"/>
          </a:xfrm>
          <a:prstGeom prst="rect">
            <a:avLst/>
          </a:prstGeom>
          <a:solidFill>
            <a:srgbClr val="00B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921240" y="1261872"/>
            <a:ext cx="9144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1335024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Sewa Baterai
Rp 2.500/unit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1764792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Rp 1.145.420.100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5832" y="23774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7 Invoices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852928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8986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RINGKASAN TAGIHAN OUTSTANDING PER KATEGORI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84048" y="3264408"/>
          <a:ext cx="11247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2286000"/>
                <a:gridCol w="1097280"/>
                <a:gridCol w="2103120"/>
                <a:gridCol w="2103120"/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Kategori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Tarif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Periode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Jumlah Inv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Total Payment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BBG De Sultan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10.000/unit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Jun 2025 –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21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1.635.350.001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1.635.350.001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BBG Tempur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11.000/unit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Sep 2025 – Apr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9 inv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907.898.970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907.898.970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Sewa Baterai Tempur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2.500/unit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Sep 2025 – 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7 inv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1.145.420.100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1A1A2E"/>
                          </a:solidFill>
                          <a:latin typeface="Segoe UI"/>
                        </a:rPr>
                        <a:t>Rp 1.124.781.900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TOTAL OUTSTANDING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Rp 3.688.669.071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Rp 3.668.030.871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84048" y="5989320"/>
            <a:ext cx="11393424" cy="530352"/>
          </a:xfrm>
          <a:prstGeom prst="rect">
            <a:avLst/>
          </a:prstGeom>
          <a:solidFill>
            <a:srgbClr val="E3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5989320"/>
            <a:ext cx="91440" cy="53035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062472"/>
            <a:ext cx="10789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1F5B"/>
                </a:solidFill>
                <a:latin typeface="Segoe UI"/>
              </a:rPr>
              <a:t>CATATAN: Tarif BBG berdasarkan kontrak PO 700 / PO 100 / PO 353 / PO 1000. Sewa Baterai 1.947 unit, PPh 23 dipotong dari Total Payment. 1 invoice Sewa Baterai Feb 2026 belum diterima.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OUTSTANDING: BBG DE SULTAN – Rp 10.000/unit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Deposit Battery De Sultan | Jun 2025 – April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10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61872"/>
            <a:ext cx="3291840" cy="111556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61872"/>
            <a:ext cx="91440" cy="111556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99032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TOTAL INVOICE BBG DE SULTAN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3063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5C518"/>
                </a:solidFill>
                <a:latin typeface="Segoe UI"/>
              </a:rPr>
              <a:t>Rp 1.635.350.001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32304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FE8FF"/>
                </a:solidFill>
                <a:latin typeface="Segoe UI"/>
              </a:rPr>
              <a:t>21 Invoices | Jun 2025 – Apr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58768" y="1261872"/>
            <a:ext cx="3200400" cy="1115568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133502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FE8FF"/>
                </a:solidFill>
                <a:latin typeface="Segoe UI"/>
              </a:rPr>
              <a:t>Unit De Sultan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1627632"/>
            <a:ext cx="30175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DE"/>
                </a:solidFill>
                <a:latin typeface="Segoe UI"/>
              </a:rPr>
              <a:t>100 – 1.338 unit
(PO 100, 353, 700, 1000)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42048" y="1261872"/>
            <a:ext cx="4572000" cy="1115568"/>
          </a:xfrm>
          <a:prstGeom prst="rect">
            <a:avLst/>
          </a:prstGeom>
          <a:solidFill>
            <a:srgbClr val="00B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13350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F5B"/>
                </a:solidFill>
                <a:latin typeface="Segoe UI"/>
              </a:rPr>
              <a:t>Periode Tagihan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627632"/>
            <a:ext cx="43891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1F5B"/>
                </a:solidFill>
                <a:latin typeface="Segoe UI"/>
              </a:rPr>
              <a:t>Juni 2025  →  April 2026
BBG (Battery Berlangganan Grab)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42032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877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DETAIL 21 INVOICE BBG DE SULTAN (Rp 10.000/unit/hari × 365 hari / 2× Rp 5.000/730 hari)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84048" y="2926080"/>
          <a:ext cx="11155680" cy="3630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645920"/>
                <a:gridCol w="1645920"/>
                <a:gridCol w="1371600"/>
                <a:gridCol w="1828800"/>
                <a:gridCol w="3657600"/>
              </a:tblGrid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Periode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No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DPP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PPN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Keterangan Unit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Jun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INV-2506-0174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17.135.135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1.884.865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19.020.000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100 unit (PO 700) – Mei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Jul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INV-2507-0097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13.963.964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1.536.036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15.500.000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100 unit (PO 700) – Juli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Aug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INV-2508-0018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64.653.153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7.111.847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71.765.000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463 unit (PO 700) – Mei-Jun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Sep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INV-2509-0027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62.567.568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6.882.432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69.450.000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463 unit (PO 700) – Mei-Jun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Jul-Aug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INV-2509-0141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57.265.765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6.299.235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63.565.000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237 unit (PO 700) – 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26-31 Aug '25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INV-2509-0143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1.801.802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198.198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2.000.000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100 unit (PO 100) – Agu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INV-2509-0142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32.027.027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3.522.973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35.550.000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237 unit (PO 700) – Jun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Sep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INV-2509-0144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13.513.514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1.486.486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15.000.000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100 unit (PO 100) – Agu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Oct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INV-2510-0020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139.639.640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15.360.360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155.000.000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1000 unit (PO 1000) – Jan-Agu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Nov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INV-2511-0017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135.135.135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14.864.865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150.000.000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1000 unit (PO 1000) – Jan-Agu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INV-2511-0155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17.702.703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1.947.297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19.650.000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131 unit (PO 353) – Okt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Nov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INV-2511-0156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3.972.973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437.027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4.410.000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30 unit (PO 353) – Okt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INV-2511-0157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7.576.577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833.423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8.410.000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129 unit (PO 353) – 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Des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INV-2512-0019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180.135.135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19.814.865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199.950.000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1290 unit (PO 1000+353) – Jan-Nov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Des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INV-2512-0112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2.567.568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282.432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2.850.000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19 unit (PO 353) – Nov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INV-2601-0016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182.788.288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20.106.712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202.895.000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1309 unit (PO 1000+353) – Jan-Nov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INV-2601-0073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4.049.550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445.450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4.495.000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31 unit (PO 353) – 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INV-2602-0019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169.009.009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18.590.991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187.600.000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1340 unit (PO 1000+353) – 01-28 Feb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INV-2602-0111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135.135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14.865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150.000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2 unit (PO 353) – 14-28 Feb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Mar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INV-2603-0017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186.837.838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20.552.162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207.390.000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1328 unit (PO 1000+353) – Mar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57833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INV-2604-0060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180.810.811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19.889.189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Rp 200.700.000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1A1A2E"/>
                          </a:solidFill>
                          <a:latin typeface="Segoe UI"/>
                        </a:rPr>
                        <a:t>1338 unit –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7842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Rp 1.473.288.290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Rp 162.061.711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>Rp 1.635.350.001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OUTSTANDING: BBG TEMPUR &amp; SEWA BATERAI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49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D8FF"/>
                </a:solidFill>
                <a:latin typeface="Segoe UI"/>
              </a:rPr>
              <a:t>Deposit BBG Rp 11.000/unit | Sewa Baterai Rp 2.500/unit/hari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2BEC9"/>
                </a:solidFill>
                <a:latin typeface="Segoe UI"/>
              </a:rPr>
              <a:t>Confidential  |  AR BML Update – 21 Mei 2026  |  11 /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0759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BBG TEMPUR Rp 11.000/unit  |  Total Invoice: Rp 907.898.970  |  9 Invoices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664208"/>
          <a:ext cx="109728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554480"/>
                <a:gridCol w="1371600"/>
                <a:gridCol w="1828800"/>
                <a:gridCol w="3474720"/>
              </a:tblGrid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Periode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No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DPP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PPN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Sep-Nov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INV-2511-0026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26.180.000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2.879.800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29.059.800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60 unit BBG – Sep-Nov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Des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INV-2512-0020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31.856.000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3.504.160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35.360.160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100 unit BBG – 1-31 Des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INV-2601-0017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34.100.000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3.751.000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37.851.000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100 unit BBG – 1-31 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INV-2601-0134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39.402.000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4.334.220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43.736.220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199 unit BBG – 1-31 Jan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INV-2602-0020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92.092.000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10.130.120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102.222.120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299 unit BBG – 1-28 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INV-2602-0112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64.977.000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7.147.470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72.124.470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389 unit BBG – 8-23 Feb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INV-2603-0018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234.608.000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25.806.880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260.414.880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688 unit BBG – 1-31 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Mar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INV-2603-0152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14.542.000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1.599.620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16.141.620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161 unit BBG – Mar 2026 (final)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26185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INV-2604-0052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280.170.000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30.818.700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310.988.700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849 unit BBG – 1-30 Apr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186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Rp 817.927.000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Rp 89.971.970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Rp 907.898.970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65760" y="4681728"/>
            <a:ext cx="11430000" cy="36576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72744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SEWA BATERAI Rp 2.500/unit/hari  |  Total Invoice: Rp 1.145.420.100  |  7 Invoices  |  1.947 unit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84048" y="5074920"/>
          <a:ext cx="1124712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828800"/>
                <a:gridCol w="1371600"/>
                <a:gridCol w="1828800"/>
                <a:gridCol w="3474720"/>
              </a:tblGrid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Periode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No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Total Invoice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PPh 23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Total Payment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Keterangan</a:t>
                      </a:r>
                    </a:p>
                  </a:txBody>
                  <a:tcPr>
                    <a:solidFill>
                      <a:srgbClr val="003A8C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INV-2509-0102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162.087.750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2.920.500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159.167.250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1.947 unit – Sep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Okt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INV-2510-0138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167.490.675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3.017.850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164.472.825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1.947 unit – Okt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INV-2511-0134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162.087.750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2.920.500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159.167.250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1.947 unit – Nov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Des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INV-2512-0124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167.490.675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3.017.850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164.472.825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1.947 unit – Des 2025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INV-2601-0104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167.490.675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3.017.850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164.472.825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1.947 unit – Jan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Feb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Blm Diterima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151.281.900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2.725.800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148.556.100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1.947 unit – Feb 2026</a:t>
                      </a:r>
                    </a:p>
                  </a:txBody>
                  <a:tcPr>
                    <a:solidFill>
                      <a:srgbClr val="D0E5F8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INV-2603-0151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167.490.675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3.017.850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Rp 164.472.825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A1A2E"/>
                          </a:solidFill>
                          <a:latin typeface="Segoe UI"/>
                        </a:rPr>
                        <a:t>1.947 unit – Mar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Rp 1.145.420.100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Rp 20.638.200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>Rp 1.124.781.900</a:t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solidFill>
                      <a:srgbClr val="001F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23960" y="0"/>
            <a:ext cx="109728" cy="685800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4592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RINGKASAN TOTAL TAGIHAN BML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0467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D8FF"/>
                </a:solidFill>
                <a:latin typeface="Segoe UI"/>
              </a:rPr>
              <a:t>AR BML Update  |  Per 21 Mei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207008"/>
            <a:ext cx="8595360" cy="54864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89888"/>
            <a:ext cx="8229600" cy="144475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389888"/>
            <a:ext cx="128016" cy="144475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8FF"/>
                </a:solidFill>
                <a:latin typeface="Segoe UI"/>
              </a:rPr>
              <a:t>INVOICE AR BML
(Total Hutang BML)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02996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5C518"/>
                </a:solidFill>
                <a:latin typeface="Segoe UI"/>
              </a:rPr>
              <a:t>Rp 3.626.894.700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572768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DD8FF"/>
                </a:solidFill>
                <a:latin typeface="Segoe UI"/>
              </a:rPr>
              <a:t>SMOOT Motor + SWAP Energi
+ SMOOT After Sales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944368"/>
            <a:ext cx="8229600" cy="144475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944368"/>
            <a:ext cx="128016" cy="1444752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358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8FF"/>
                </a:solidFill>
                <a:latin typeface="Segoe UI"/>
              </a:rPr>
              <a:t>TAGIHAN CUT-OFF APR'26
(Siap Dibayarkan)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844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2DE"/>
                </a:solidFill>
                <a:latin typeface="Segoe UI"/>
              </a:rPr>
              <a:t>Rp 1.976.747.940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127248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DD8FF"/>
                </a:solidFill>
                <a:latin typeface="Segoe UI"/>
              </a:rPr>
              <a:t>End Contract + De Sultan
(Excludes IDLE Canceled)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498848"/>
            <a:ext cx="8229600" cy="144475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4498848"/>
            <a:ext cx="128016" cy="1444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59028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8FF"/>
                </a:solidFill>
                <a:latin typeface="Segoe UI"/>
              </a:rPr>
              <a:t>OUTSTANDING SWAP-BML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3892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Rp 3.688.669.071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681728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DD8FF"/>
                </a:solidFill>
                <a:latin typeface="Segoe UI"/>
              </a:rPr>
              <a:t>BBG De Sultan + BBG Tempur
+ Sewa Baterai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389888"/>
            <a:ext cx="3017520" cy="4297680"/>
          </a:xfrm>
          <a:prstGeom prst="rect">
            <a:avLst/>
          </a:prstGeom>
          <a:solidFill>
            <a:srgbClr val="001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0" y="1481328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2DE"/>
                </a:solidFill>
                <a:latin typeface="Segoe UI"/>
              </a:rPr>
              <a:t>FOLLOW UP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1920240"/>
            <a:ext cx="2834640" cy="45720"/>
          </a:xfrm>
          <a:prstGeom prst="rect">
            <a:avLst/>
          </a:prstGeom>
          <a:solidFill>
            <a:srgbClr val="00C2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560" y="2057400"/>
            <a:ext cx="320040" cy="320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0848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1F5B"/>
                </a:solidFill>
                <a:latin typeface="Segoe U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0574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Pembayaran Invoice AR BML
senilai Rp 3,6 M segera
dikonfirmasi jadwal bayar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2971800"/>
            <a:ext cx="320040" cy="3200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9900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1F5B"/>
                </a:solidFill>
                <a:latin typeface="Segoe U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29718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Verifikasi Tagihan Cut-Off
Rp 1,97 M – semua invoice
berstatus Siap Bayar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3886200"/>
            <a:ext cx="320040" cy="320040"/>
          </a:xfrm>
          <a:prstGeom prst="rect">
            <a:avLst/>
          </a:prstGeom>
          <a:solidFill>
            <a:srgbClr val="D38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0848" y="3904487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1F5B"/>
                </a:solidFill>
                <a:latin typeface="Segoe U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3886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Penyelesaian Outstanding
SWAP Rp 3,69 M – proses
reconciliation &amp; payment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2560" y="4800600"/>
            <a:ext cx="320040" cy="320040"/>
          </a:xfrm>
          <a:prstGeom prst="rect">
            <a:avLst/>
          </a:prstGeom>
          <a:solidFill>
            <a:srgbClr val="D384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48188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1F5B"/>
                </a:solidFill>
                <a:latin typeface="Segoe U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48006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Segoe UI"/>
              </a:rPr>
              <a:t>Tagihan IDLE Rp 1,41 M
(Canceled) – MoM review
bersama tim Aftersales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5989320"/>
            <a:ext cx="8229600" cy="59436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062472"/>
            <a:ext cx="79552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1F5B"/>
                </a:solidFill>
                <a:latin typeface="Segoe UI"/>
              </a:rPr>
              <a:t>GRAND TOTAL SEMUA TAGIHAN:  Rp 9.292.311.711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