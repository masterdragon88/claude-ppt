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5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3840480" cy="685800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0"/>
            <a:ext cx="7845552" cy="6858000"/>
          </a:xfrm>
          <a:prstGeom prst="rect">
            <a:avLst/>
          </a:prstGeom>
          <a:solidFill>
            <a:srgbClr val="0A2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0"/>
            <a:ext cx="7845552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80560" y="109728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AR VS 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7406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A623"/>
                </a:solidFill>
              </a:rPr>
              <a:t>SUMMARY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7180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7"/>
                </a:solidFill>
              </a:rPr>
              <a:t>Smoot Motor Indonesia x BML  |  SWAP Energi x BML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3611880"/>
            <a:ext cx="7132320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8F7"/>
                </a:solidFill>
              </a:rPr>
              <a:t>Update: 20 Mei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A623"/>
                </a:solidFill>
              </a:rPr>
              <a:t>CONFIDENTIAL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5029200"/>
            <a:ext cx="2377440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5120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TOTAL AR (Piutang)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623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Rp 3,626,894,700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2592" y="5029200"/>
            <a:ext cx="2377440" cy="1508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1" y="5120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TOTAL AP (Hutang)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5623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Rp 8,045,129,361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64624" y="5029200"/>
            <a:ext cx="2377440" cy="1508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5120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NET POSITION (AP-AR)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0344" y="5623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Rp 4,418,234,661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2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8F7"/>
                </a:solidFill>
              </a:rPr>
              <a:t>20 Mei 2026  |  AR vs AP 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749039" cy="16916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28600" cy="1691640"/>
          </a:xfrm>
          <a:prstGeom prst="rect">
            <a:avLst/>
          </a:prstGeom>
          <a:solidFill>
            <a:srgbClr val="0A2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AR
(Piutang BML)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17373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Rp 3.626.894.700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CC"/>
                </a:solidFill>
              </a:rPr>
              <a:t>Piutang aktif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49039" cy="1691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228600" cy="1691640"/>
          </a:xfrm>
          <a:prstGeom prst="rect">
            <a:avLst/>
          </a:prstGeom>
          <a:solidFill>
            <a:srgbClr val="0A2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234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AP
(Hutang ke BML)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17373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Rp 8.045.129.361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CC"/>
                </a:solidFill>
              </a:rPr>
              <a:t>Tagihan outstanding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143000"/>
            <a:ext cx="3749039" cy="1691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143000"/>
            <a:ext cx="228600" cy="1691640"/>
          </a:xfrm>
          <a:prstGeom prst="rect">
            <a:avLst/>
          </a:prstGeom>
          <a:solidFill>
            <a:srgbClr val="0A2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234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Net Position
(AP - 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7373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Rp 4.418.234.661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CC"/>
                </a:solidFill>
              </a:rPr>
              <a:t>Hutang &gt; Piutang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26080"/>
            <a:ext cx="5120640" cy="3657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926080"/>
            <a:ext cx="5120640" cy="3657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2926080"/>
            <a:ext cx="1005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ACCOUNT RECEIVABLE (AR) -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Total AR: Rp 3,626,894,700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943600" cy="53949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88720"/>
            <a:ext cx="55778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ACCOUNT PAYABLE - CUT OFF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7"/>
                </a:solidFill>
              </a:rPr>
              <a:t>Smoot Motor x BML  |  Total AP: Rp 4,356,460,290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029200" cy="53949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14300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ACCOUNT PAYABLE - OUTSTANDING SWAP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7"/>
                </a:solidFill>
              </a:rPr>
              <a:t>SWAP Energi x BML  |  Total AP: Rp 3,688,669,071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035040" cy="43891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88720"/>
            <a:ext cx="5303520" cy="4389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5806440"/>
            <a:ext cx="3657600" cy="7772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BBG De Sultan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44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Rp 1.635.350.001  |  44.3%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5806440"/>
            <a:ext cx="3657600" cy="777240"/>
          </a:xfrm>
          <a:prstGeom prst="rect">
            <a:avLst/>
          </a:prstGeom>
          <a:solidFill>
            <a:srgbClr val="15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58521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Sewa Baterai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6144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Rp 1.145.420.100  |  31.1%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5806440"/>
            <a:ext cx="3657600" cy="777240"/>
          </a:xfrm>
          <a:prstGeom prst="rect">
            <a:avLst/>
          </a:prstGeom>
          <a:solidFill>
            <a:srgbClr val="0A2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58521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BBG Tempur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6144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Rp 907.898.970  |  24.6%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 VS AP - PERBANDINGAN &amp; POSISI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7"/>
                </a:solidFill>
              </a:rPr>
              <a:t>Analisis perbandingan piutang vs hutang per partner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53949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097280"/>
            <a:ext cx="45720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TABEL RINGKASAN - AR &amp; AP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Rekap lengkap per kategori per partner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5029200" cy="6858000"/>
          </a:xfrm>
          <a:prstGeom prst="rect">
            <a:avLst/>
          </a:prstGeom>
          <a:solidFill>
            <a:srgbClr val="15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0"/>
            <a:ext cx="6748272" cy="6858000"/>
          </a:xfrm>
          <a:prstGeom prst="rect">
            <a:avLst/>
          </a:prstGeom>
          <a:solidFill>
            <a:srgbClr val="0A2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40680" y="0"/>
            <a:ext cx="674827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&amp; REKOMENDASI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43891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556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958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4650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11679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8F7"/>
                </a:solidFill>
              </a:rPr>
              <a:t>Rp 3,626,894,700
Piutang dari Smoot Motor &amp; SWAP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26080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44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958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3522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004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8F7"/>
                </a:solidFill>
              </a:rPr>
              <a:t>Rp 8,045,129,361
Hutang ke BML dari Smoot &amp; SWAP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114800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3308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958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239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Net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891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8F7"/>
                </a:solidFill>
              </a:rPr>
              <a:t>Rp 4,418,234,661
AP melebihi AR - perlu perhatian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303520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3218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958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1266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Prioritas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778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8F7"/>
                </a:solidFill>
              </a:rPr>
              <a:t>IDLE &amp; Over SLA (Rp 2.38B)
merupakan komponen AP terbesar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200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6E8F7"/>
                </a:solidFill>
              </a:rPr>
              <a:t>NET POSITION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A623"/>
                </a:solidFill>
              </a:rPr>
              <a:t>AP - 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1417320"/>
            <a:ext cx="6400800" cy="1234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150876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Rp 4,418,234,661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201168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Hutang Bersih kepada BML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788920"/>
            <a:ext cx="6400800" cy="33832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720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899BB"/>
                </a:solidFill>
              </a:rPr>
              <a:t>(c) 2026 Confidential  |  Smoot Motor x BML  |  SWAP Energi x BML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